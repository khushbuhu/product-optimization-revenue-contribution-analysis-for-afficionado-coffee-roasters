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F4E37"/>
    <a:srgbClr val="3E2723"/>
    <a:srgbClr val="DFCE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BD6DE-9EC9-4FB3-B864-B60115F16C09}" type="datetimeFigureOut">
              <a:rPr lang="en-IN" smtClean="0"/>
              <a:t>06-07-2026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FBC3B4-F6AE-4977-B94E-7339C4678B07}" type="slidenum">
              <a:rPr lang="en-IN" smtClean="0"/>
              <a:t>‹#›</a:t>
            </a:fld>
            <a:endParaRPr lang="en-IN"/>
          </a:p>
        </p:txBody>
      </p:sp>
    </p:spTree>
    <p:extLst>
      <p:ext uri="{BB962C8B-B14F-4D97-AF65-F5344CB8AC3E}">
        <p14:creationId xmlns:p14="http://schemas.microsoft.com/office/powerpoint/2010/main" val="3614971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FBC3B4-F6AE-4977-B94E-7339C4678B07}" type="slidenum">
              <a:rPr lang="en-IN" smtClean="0"/>
              <a:t>6</a:t>
            </a:fld>
            <a:endParaRPr lang="en-IN"/>
          </a:p>
        </p:txBody>
      </p:sp>
    </p:spTree>
    <p:extLst>
      <p:ext uri="{BB962C8B-B14F-4D97-AF65-F5344CB8AC3E}">
        <p14:creationId xmlns:p14="http://schemas.microsoft.com/office/powerpoint/2010/main" val="277592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20CBD-FC8E-0229-6CED-8FF81C71A1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AA4D7B-7F50-74A1-C38C-0DEF69C14F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856ED5-0B3A-4AF4-3CB4-D7C0D852E87A}"/>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5" name="Footer Placeholder 4">
            <a:extLst>
              <a:ext uri="{FF2B5EF4-FFF2-40B4-BE49-F238E27FC236}">
                <a16:creationId xmlns:a16="http://schemas.microsoft.com/office/drawing/2014/main" id="{ED028FE2-0509-0151-8729-4DF0763B48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6960D5-78CE-71C5-4EFE-942AD3C4A747}"/>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1821745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42F0-AED6-9457-8B70-6CB4532EE6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31565B-9999-4989-C4BB-4EA0C17942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E8932E-0C21-0DEE-B974-07B7AB623BB1}"/>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5" name="Footer Placeholder 4">
            <a:extLst>
              <a:ext uri="{FF2B5EF4-FFF2-40B4-BE49-F238E27FC236}">
                <a16:creationId xmlns:a16="http://schemas.microsoft.com/office/drawing/2014/main" id="{13C2576C-95E9-27A6-1956-E6E8467197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E75369-12E6-13B9-4488-8E9D3B7CDDAF}"/>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976627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4437D-1CBC-E1E5-3647-D063F12C6F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90D255-5866-C81F-585A-97BBEF942D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67666F-9B43-035C-D6CA-0FD67AA6E158}"/>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5" name="Footer Placeholder 4">
            <a:extLst>
              <a:ext uri="{FF2B5EF4-FFF2-40B4-BE49-F238E27FC236}">
                <a16:creationId xmlns:a16="http://schemas.microsoft.com/office/drawing/2014/main" id="{81DEB114-DFA3-76A7-F26D-F4CF2562D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CE469E-9AD9-F62B-44EA-74210D1A4E98}"/>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659654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E284-8FA2-25FD-2221-02D238674B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10D70A-3B63-A997-31BE-165F9A6555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C335D8-8A03-D850-059E-3DD46FA260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1E50B2-E464-2920-D18F-ED5CB11D5EBA}"/>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6" name="Footer Placeholder 5">
            <a:extLst>
              <a:ext uri="{FF2B5EF4-FFF2-40B4-BE49-F238E27FC236}">
                <a16:creationId xmlns:a16="http://schemas.microsoft.com/office/drawing/2014/main" id="{7B1FC262-46A2-D212-83DD-F2EDAF4949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DE1A38-2722-6D1D-DD3A-D4381DF916A4}"/>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1616792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324F9-AED3-DA26-3434-AC2D87878B3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06EA46-0933-6145-E033-373276C2A0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2AC7E8-A0C3-5152-FE1B-7BD2D1A893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E73CFB-3396-FE8B-5DD7-080EA6B237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30B07D-5832-75A6-FE91-D59078F43B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E59E27-1D2D-6F91-37EA-D16636F2972E}"/>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8" name="Footer Placeholder 7">
            <a:extLst>
              <a:ext uri="{FF2B5EF4-FFF2-40B4-BE49-F238E27FC236}">
                <a16:creationId xmlns:a16="http://schemas.microsoft.com/office/drawing/2014/main" id="{17EA7779-FEA9-C42B-64F3-7370EA3DB6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D282D2-FF17-D0EF-8BF4-D55842B3B4C7}"/>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1416018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ABDFC-4573-228C-0FA5-858BECF772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F0CE3B-65EA-57AC-346C-ACFCF5965DD6}"/>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4" name="Footer Placeholder 3">
            <a:extLst>
              <a:ext uri="{FF2B5EF4-FFF2-40B4-BE49-F238E27FC236}">
                <a16:creationId xmlns:a16="http://schemas.microsoft.com/office/drawing/2014/main" id="{7AA332AF-8A66-8AE1-9E5C-3C0676F71C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DDA878-42F0-41C0-09D5-7C87B7538193}"/>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227485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8FB778-5075-6F21-0EEB-5783AE1BF350}"/>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3" name="Footer Placeholder 2">
            <a:extLst>
              <a:ext uri="{FF2B5EF4-FFF2-40B4-BE49-F238E27FC236}">
                <a16:creationId xmlns:a16="http://schemas.microsoft.com/office/drawing/2014/main" id="{D82CF94E-19BD-59E9-3711-C6A1BD6DC7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020F8F-795C-D7B8-637A-06B6C340D286}"/>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4225061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2865C-5EF4-B7FC-6A87-5933D8FB1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79E5FE-A56D-8D73-D078-5B58CAD1F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51FFD2-33EA-8EF8-7881-D9E567A11F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39D7B3-7D25-E546-03A0-23E6E4FDBD30}"/>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6" name="Footer Placeholder 5">
            <a:extLst>
              <a:ext uri="{FF2B5EF4-FFF2-40B4-BE49-F238E27FC236}">
                <a16:creationId xmlns:a16="http://schemas.microsoft.com/office/drawing/2014/main" id="{F19C0986-AF70-2832-4A1B-855BE60F77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5867D2-7ABD-A775-E7E3-EE28EA53A19E}"/>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1122788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E9E4B-D92B-8604-16E5-3F225AC6B4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9DCD70D-ACD0-2CC1-32DC-927C6BF1D4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CF8116-E09B-FF30-01CA-DFAD2D1427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B4A44D-6C06-BA27-C6BF-B9645CD869D6}"/>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6" name="Footer Placeholder 5">
            <a:extLst>
              <a:ext uri="{FF2B5EF4-FFF2-40B4-BE49-F238E27FC236}">
                <a16:creationId xmlns:a16="http://schemas.microsoft.com/office/drawing/2014/main" id="{4D91A619-144A-7AED-3478-3BD71365E8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42F770-FEC3-151F-9073-8960E186C1D9}"/>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2264217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FB797-F2AA-DBBA-F915-75DE065939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F02B7F-DF96-CCF2-4978-44D5EA813B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F2249-9FBF-57DD-DA4C-53BCF415452B}"/>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5" name="Footer Placeholder 4">
            <a:extLst>
              <a:ext uri="{FF2B5EF4-FFF2-40B4-BE49-F238E27FC236}">
                <a16:creationId xmlns:a16="http://schemas.microsoft.com/office/drawing/2014/main" id="{F8FDFB09-5D49-89CE-E7F3-FD716A471C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6FB874-FBE3-4BB3-82BA-0B31F0855261}"/>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1699081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28E1E1-C208-7DF3-AF1C-AF27BBE698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FCEEB7-C07C-7D61-ABFC-3A44706AFF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FCDD01-604E-BCEE-AB50-2A437B1FBC75}"/>
              </a:ext>
            </a:extLst>
          </p:cNvPr>
          <p:cNvSpPr>
            <a:spLocks noGrp="1"/>
          </p:cNvSpPr>
          <p:nvPr>
            <p:ph type="dt" sz="half" idx="10"/>
          </p:nvPr>
        </p:nvSpPr>
        <p:spPr/>
        <p:txBody>
          <a:bodyPr/>
          <a:lstStyle/>
          <a:p>
            <a:fld id="{6FFFFA13-4DA7-436B-AB9E-CCF6D3550364}" type="datetimeFigureOut">
              <a:rPr lang="en-IN" smtClean="0"/>
              <a:t>06-07-2026</a:t>
            </a:fld>
            <a:endParaRPr lang="en-IN"/>
          </a:p>
        </p:txBody>
      </p:sp>
      <p:sp>
        <p:nvSpPr>
          <p:cNvPr id="5" name="Footer Placeholder 4">
            <a:extLst>
              <a:ext uri="{FF2B5EF4-FFF2-40B4-BE49-F238E27FC236}">
                <a16:creationId xmlns:a16="http://schemas.microsoft.com/office/drawing/2014/main" id="{0299BAE5-D8FA-0512-46F1-DD46F73330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5AF48F-1CC9-1552-B828-7E49FD1355BD}"/>
              </a:ext>
            </a:extLst>
          </p:cNvPr>
          <p:cNvSpPr>
            <a:spLocks noGrp="1"/>
          </p:cNvSpPr>
          <p:nvPr>
            <p:ph type="sldNum" sz="quarter" idx="12"/>
          </p:nvPr>
        </p:nvSpPr>
        <p:spPr/>
        <p:txBody>
          <a:bodyPr/>
          <a:lstStyle/>
          <a:p>
            <a:fld id="{0C41B18E-5A61-4CA9-AAC4-5EBC7D786429}" type="slidenum">
              <a:rPr lang="en-IN" smtClean="0"/>
              <a:t>‹#›</a:t>
            </a:fld>
            <a:endParaRPr lang="en-IN"/>
          </a:p>
        </p:txBody>
      </p:sp>
    </p:spTree>
    <p:extLst>
      <p:ext uri="{BB962C8B-B14F-4D97-AF65-F5344CB8AC3E}">
        <p14:creationId xmlns:p14="http://schemas.microsoft.com/office/powerpoint/2010/main" val="2052950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979C09-8338-F259-DC36-90E222C30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348BDF-647F-4795-3800-183C735922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186B41-E5AB-59DB-069E-094E121B1E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FFFA13-4DA7-436B-AB9E-CCF6D3550364}" type="datetimeFigureOut">
              <a:rPr lang="en-IN" smtClean="0"/>
              <a:t>06-07-2026</a:t>
            </a:fld>
            <a:endParaRPr lang="en-IN"/>
          </a:p>
        </p:txBody>
      </p:sp>
      <p:sp>
        <p:nvSpPr>
          <p:cNvPr id="5" name="Footer Placeholder 4">
            <a:extLst>
              <a:ext uri="{FF2B5EF4-FFF2-40B4-BE49-F238E27FC236}">
                <a16:creationId xmlns:a16="http://schemas.microsoft.com/office/drawing/2014/main" id="{D0199A4C-4034-6484-FC13-3C14978D44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C9FFF2-A1CF-2EE4-100E-16959636C2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41B18E-5A61-4CA9-AAC4-5EBC7D786429}" type="slidenum">
              <a:rPr lang="en-IN" smtClean="0"/>
              <a:t>‹#›</a:t>
            </a:fld>
            <a:endParaRPr lang="en-IN"/>
          </a:p>
        </p:txBody>
      </p:sp>
    </p:spTree>
    <p:extLst>
      <p:ext uri="{BB962C8B-B14F-4D97-AF65-F5344CB8AC3E}">
        <p14:creationId xmlns:p14="http://schemas.microsoft.com/office/powerpoint/2010/main" val="195890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5" Type="http://schemas.microsoft.com/office/2007/relationships/hdphoto" Target="../media/hdphoto4.wdp"/><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5" Type="http://schemas.microsoft.com/office/2007/relationships/hdphoto" Target="../media/hdphoto5.wdp"/><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5" Type="http://schemas.microsoft.com/office/2007/relationships/hdphoto" Target="../media/hdphoto6.wdp"/><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B8BAF1-9535-4B6E-5E41-F08F0E80BF03}"/>
              </a:ext>
            </a:extLst>
          </p:cNvPr>
          <p:cNvSpPr txBox="1"/>
          <p:nvPr/>
        </p:nvSpPr>
        <p:spPr>
          <a:xfrm>
            <a:off x="0" y="3722914"/>
            <a:ext cx="7924800" cy="1569660"/>
          </a:xfrm>
          <a:prstGeom prst="rect">
            <a:avLst/>
          </a:prstGeom>
          <a:noFill/>
        </p:spPr>
        <p:txBody>
          <a:bodyPr wrap="square">
            <a:spAutoFit/>
          </a:bodyPr>
          <a:lstStyle/>
          <a:p>
            <a:r>
              <a:rPr lang="en-US" sz="3200" b="1" dirty="0">
                <a:solidFill>
                  <a:schemeClr val="bg1"/>
                </a:solidFill>
              </a:rPr>
              <a:t>Product Optimization &amp; Revenue</a:t>
            </a:r>
          </a:p>
          <a:p>
            <a:r>
              <a:rPr lang="en-US" sz="3200" b="1" dirty="0">
                <a:solidFill>
                  <a:schemeClr val="bg1"/>
                </a:solidFill>
              </a:rPr>
              <a:t>Contribution Analysis for Afficionado Coffee</a:t>
            </a:r>
          </a:p>
          <a:p>
            <a:r>
              <a:rPr lang="en-US" sz="3200" b="1" dirty="0">
                <a:solidFill>
                  <a:schemeClr val="bg1"/>
                </a:solidFill>
              </a:rPr>
              <a:t>Roasters</a:t>
            </a:r>
          </a:p>
        </p:txBody>
      </p:sp>
      <p:pic>
        <p:nvPicPr>
          <p:cNvPr id="6" name="Picture 5">
            <a:extLst>
              <a:ext uri="{FF2B5EF4-FFF2-40B4-BE49-F238E27FC236}">
                <a16:creationId xmlns:a16="http://schemas.microsoft.com/office/drawing/2014/main" id="{06784808-A955-40D8-EDB0-A8F2577A0902}"/>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657949" y="3069770"/>
            <a:ext cx="2154537" cy="1569659"/>
          </a:xfrm>
          <a:prstGeom prst="rect">
            <a:avLst/>
          </a:prstGeom>
          <a:effectLst>
            <a:glow rad="101600">
              <a:schemeClr val="accent3">
                <a:satMod val="175000"/>
                <a:alpha val="40000"/>
              </a:schemeClr>
            </a:glow>
          </a:effectLst>
        </p:spPr>
      </p:pic>
      <p:sp>
        <p:nvSpPr>
          <p:cNvPr id="7" name="TextBox 6">
            <a:extLst>
              <a:ext uri="{FF2B5EF4-FFF2-40B4-BE49-F238E27FC236}">
                <a16:creationId xmlns:a16="http://schemas.microsoft.com/office/drawing/2014/main" id="{0A2833A0-8D96-268E-CEC5-F94F947F759E}"/>
              </a:ext>
            </a:extLst>
          </p:cNvPr>
          <p:cNvSpPr txBox="1"/>
          <p:nvPr/>
        </p:nvSpPr>
        <p:spPr>
          <a:xfrm>
            <a:off x="5769429" y="5240262"/>
            <a:ext cx="6836229" cy="1477328"/>
          </a:xfrm>
          <a:prstGeom prst="rect">
            <a:avLst/>
          </a:prstGeom>
          <a:noFill/>
        </p:spPr>
        <p:txBody>
          <a:bodyPr wrap="square">
            <a:spAutoFit/>
          </a:bodyPr>
          <a:lstStyle/>
          <a:p>
            <a:r>
              <a:rPr lang="en-IN" dirty="0">
                <a:solidFill>
                  <a:schemeClr val="bg1"/>
                </a:solidFill>
              </a:rPr>
              <a:t>Presented By:</a:t>
            </a:r>
          </a:p>
          <a:p>
            <a:r>
              <a:rPr lang="en-IN" dirty="0">
                <a:solidFill>
                  <a:schemeClr val="bg1"/>
                </a:solidFill>
              </a:rPr>
              <a:t>Khushbu Sahu</a:t>
            </a:r>
          </a:p>
          <a:p>
            <a:endParaRPr lang="en-IN" dirty="0">
              <a:solidFill>
                <a:schemeClr val="bg1"/>
              </a:solidFill>
            </a:endParaRPr>
          </a:p>
          <a:p>
            <a:r>
              <a:rPr lang="en-IN" dirty="0">
                <a:solidFill>
                  <a:schemeClr val="bg1"/>
                </a:solidFill>
              </a:rPr>
              <a:t>Tools:</a:t>
            </a:r>
          </a:p>
          <a:p>
            <a:r>
              <a:rPr lang="en-IN" dirty="0">
                <a:solidFill>
                  <a:schemeClr val="bg1"/>
                </a:solidFill>
              </a:rPr>
              <a:t>Excel            | Power Query               | Power BI          | DAX</a:t>
            </a:r>
          </a:p>
        </p:txBody>
      </p:sp>
      <p:pic>
        <p:nvPicPr>
          <p:cNvPr id="8" name="Picture 2" descr="Microsoft Excel Icon SVG Vector &amp; PNG Free Download | UXWing">
            <a:extLst>
              <a:ext uri="{FF2B5EF4-FFF2-40B4-BE49-F238E27FC236}">
                <a16:creationId xmlns:a16="http://schemas.microsoft.com/office/drawing/2014/main" id="{111616CC-3A38-112C-1CD4-DED8FB8A6B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6439653" y="6325705"/>
            <a:ext cx="464757" cy="39188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10 Things I Wish to See Coming Soon With the Power Query">
            <a:extLst>
              <a:ext uri="{FF2B5EF4-FFF2-40B4-BE49-F238E27FC236}">
                <a16:creationId xmlns:a16="http://schemas.microsoft.com/office/drawing/2014/main" id="{6B840F3C-B28E-EDFA-C11B-9A91EEDD59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1999" y="6411561"/>
            <a:ext cx="740228" cy="30602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Power BI Icon SVG Vector &amp; PNG Free Download | UXWing">
            <a:extLst>
              <a:ext uri="{FF2B5EF4-FFF2-40B4-BE49-F238E27FC236}">
                <a16:creationId xmlns:a16="http://schemas.microsoft.com/office/drawing/2014/main" id="{AA1DD58A-31F3-BDCC-4E23-1AD6A6A6CD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87032" y="6368632"/>
            <a:ext cx="412784" cy="306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973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44E4A7-737D-8368-00C4-F6F87B0FF28C}"/>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3" name="TextBox 2">
            <a:extLst>
              <a:ext uri="{FF2B5EF4-FFF2-40B4-BE49-F238E27FC236}">
                <a16:creationId xmlns:a16="http://schemas.microsoft.com/office/drawing/2014/main" id="{0BC05E27-8EC9-9493-1F1F-5D071B92FB9B}"/>
              </a:ext>
            </a:extLst>
          </p:cNvPr>
          <p:cNvSpPr txBox="1"/>
          <p:nvPr/>
        </p:nvSpPr>
        <p:spPr>
          <a:xfrm>
            <a:off x="174169" y="109249"/>
            <a:ext cx="6096000" cy="584775"/>
          </a:xfrm>
          <a:prstGeom prst="rect">
            <a:avLst/>
          </a:prstGeom>
          <a:noFill/>
        </p:spPr>
        <p:txBody>
          <a:bodyPr wrap="square">
            <a:spAutoFit/>
          </a:bodyPr>
          <a:lstStyle/>
          <a:p>
            <a:r>
              <a:rPr lang="en-IN" sz="3200" b="1" dirty="0">
                <a:solidFill>
                  <a:srgbClr val="3E2723"/>
                </a:solidFill>
              </a:rPr>
              <a:t>Business Overview</a:t>
            </a:r>
          </a:p>
        </p:txBody>
      </p:sp>
      <p:sp>
        <p:nvSpPr>
          <p:cNvPr id="5" name="TextBox 4">
            <a:extLst>
              <a:ext uri="{FF2B5EF4-FFF2-40B4-BE49-F238E27FC236}">
                <a16:creationId xmlns:a16="http://schemas.microsoft.com/office/drawing/2014/main" id="{45A0EBDB-D4B4-23C4-6345-5BF5536EB046}"/>
              </a:ext>
            </a:extLst>
          </p:cNvPr>
          <p:cNvSpPr txBox="1"/>
          <p:nvPr/>
        </p:nvSpPr>
        <p:spPr>
          <a:xfrm>
            <a:off x="174169" y="824024"/>
            <a:ext cx="8860974" cy="1477328"/>
          </a:xfrm>
          <a:prstGeom prst="rect">
            <a:avLst/>
          </a:prstGeom>
          <a:noFill/>
        </p:spPr>
        <p:txBody>
          <a:bodyPr wrap="square">
            <a:spAutoFit/>
          </a:bodyPr>
          <a:lstStyle/>
          <a:p>
            <a:pPr algn="just"/>
            <a:r>
              <a:rPr lang="en-US" dirty="0">
                <a:solidFill>
                  <a:srgbClr val="6F4E37"/>
                </a:solidFill>
                <a:cs typeface="Segoe UI Semibold" panose="020B0702040204020203" pitchFamily="34" charset="0"/>
              </a:rPr>
              <a:t>Afficionado Coffee Roasters is a specialty coffee retailer offering a wide range of beverages, coffee beans, bakery items, and complementary products across multiple store locations. As sales volume and product variety continue to grow, understanding which products, categories, stores, and time slots contribute the most to overall revenue becomes essential for effective business decision-making.</a:t>
            </a:r>
            <a:endParaRPr lang="en-IN" dirty="0">
              <a:solidFill>
                <a:srgbClr val="6F4E37"/>
              </a:solidFill>
              <a:cs typeface="Segoe UI Semibold" panose="020B0702040204020203" pitchFamily="34" charset="0"/>
            </a:endParaRPr>
          </a:p>
        </p:txBody>
      </p:sp>
      <p:sp>
        <p:nvSpPr>
          <p:cNvPr id="7" name="TextBox 6">
            <a:extLst>
              <a:ext uri="{FF2B5EF4-FFF2-40B4-BE49-F238E27FC236}">
                <a16:creationId xmlns:a16="http://schemas.microsoft.com/office/drawing/2014/main" id="{D40D2BFA-B85C-1A68-9411-C4AC9423356A}"/>
              </a:ext>
            </a:extLst>
          </p:cNvPr>
          <p:cNvSpPr txBox="1"/>
          <p:nvPr/>
        </p:nvSpPr>
        <p:spPr>
          <a:xfrm>
            <a:off x="174169" y="2431352"/>
            <a:ext cx="8860974" cy="646331"/>
          </a:xfrm>
          <a:prstGeom prst="rect">
            <a:avLst/>
          </a:prstGeom>
          <a:noFill/>
        </p:spPr>
        <p:txBody>
          <a:bodyPr wrap="square">
            <a:spAutoFit/>
          </a:bodyPr>
          <a:lstStyle/>
          <a:p>
            <a:r>
              <a:rPr lang="en-US" b="0" i="0" dirty="0">
                <a:solidFill>
                  <a:srgbClr val="6F4E37"/>
                </a:solidFill>
                <a:effectLst/>
              </a:rPr>
              <a:t>This project provides product-centric intelligence to support menu optimization and merchandising strategy.</a:t>
            </a:r>
            <a:endParaRPr lang="en-IN" dirty="0">
              <a:solidFill>
                <a:srgbClr val="6F4E37"/>
              </a:solidFill>
            </a:endParaRPr>
          </a:p>
        </p:txBody>
      </p:sp>
      <p:sp>
        <p:nvSpPr>
          <p:cNvPr id="8" name="TextBox 7">
            <a:extLst>
              <a:ext uri="{FF2B5EF4-FFF2-40B4-BE49-F238E27FC236}">
                <a16:creationId xmlns:a16="http://schemas.microsoft.com/office/drawing/2014/main" id="{C9B3DC3B-DBB4-E7DA-5446-428635C61258}"/>
              </a:ext>
            </a:extLst>
          </p:cNvPr>
          <p:cNvSpPr txBox="1"/>
          <p:nvPr/>
        </p:nvSpPr>
        <p:spPr>
          <a:xfrm>
            <a:off x="174169" y="3207683"/>
            <a:ext cx="6096000" cy="584775"/>
          </a:xfrm>
          <a:prstGeom prst="rect">
            <a:avLst/>
          </a:prstGeom>
          <a:noFill/>
        </p:spPr>
        <p:txBody>
          <a:bodyPr wrap="square">
            <a:spAutoFit/>
          </a:bodyPr>
          <a:lstStyle/>
          <a:p>
            <a:r>
              <a:rPr lang="en-US" sz="3200" b="1" dirty="0">
                <a:solidFill>
                  <a:srgbClr val="3E2723"/>
                </a:solidFill>
              </a:rPr>
              <a:t>P</a:t>
            </a:r>
            <a:r>
              <a:rPr lang="en-IN" sz="3200" b="1" dirty="0">
                <a:solidFill>
                  <a:srgbClr val="3E2723"/>
                </a:solidFill>
              </a:rPr>
              <a:t>roblem Statement</a:t>
            </a:r>
          </a:p>
        </p:txBody>
      </p:sp>
      <p:sp>
        <p:nvSpPr>
          <p:cNvPr id="10" name="TextBox 9">
            <a:extLst>
              <a:ext uri="{FF2B5EF4-FFF2-40B4-BE49-F238E27FC236}">
                <a16:creationId xmlns:a16="http://schemas.microsoft.com/office/drawing/2014/main" id="{30140361-066C-EF75-81A5-B97050A1F83F}"/>
              </a:ext>
            </a:extLst>
          </p:cNvPr>
          <p:cNvSpPr txBox="1"/>
          <p:nvPr/>
        </p:nvSpPr>
        <p:spPr>
          <a:xfrm>
            <a:off x="174169" y="3901118"/>
            <a:ext cx="8860974" cy="1803699"/>
          </a:xfrm>
          <a:prstGeom prst="rect">
            <a:avLst/>
          </a:prstGeom>
          <a:noFill/>
        </p:spPr>
        <p:txBody>
          <a:bodyPr wrap="square">
            <a:spAutoFit/>
          </a:bodyPr>
          <a:lstStyle/>
          <a:p>
            <a:pPr algn="l">
              <a:spcAft>
                <a:spcPts val="1800"/>
              </a:spcAft>
            </a:pPr>
            <a:r>
              <a:rPr lang="en-US" b="0" i="0" dirty="0">
                <a:solidFill>
                  <a:srgbClr val="6F4E37"/>
                </a:solidFill>
                <a:effectLst/>
              </a:rPr>
              <a:t>Although transaction-level product data is available, Afficionado Coffee Roasters lacks:</a:t>
            </a:r>
          </a:p>
          <a:p>
            <a:pPr marL="285750" indent="-285750" algn="l">
              <a:lnSpc>
                <a:spcPct val="150000"/>
              </a:lnSpc>
              <a:buFont typeface="Wingdings" panose="05000000000000000000" pitchFamily="2" charset="2"/>
              <a:buChar char="q"/>
            </a:pPr>
            <a:r>
              <a:rPr lang="en-US" b="0" i="0" dirty="0">
                <a:solidFill>
                  <a:srgbClr val="6F4E37"/>
                </a:solidFill>
                <a:effectLst/>
              </a:rPr>
              <a:t>• Clear visibility into product popularity vs profitability</a:t>
            </a:r>
          </a:p>
          <a:p>
            <a:pPr marL="285750" indent="-285750" algn="l">
              <a:lnSpc>
                <a:spcPct val="150000"/>
              </a:lnSpc>
              <a:buFont typeface="Wingdings" panose="05000000000000000000" pitchFamily="2" charset="2"/>
              <a:buChar char="q"/>
            </a:pPr>
            <a:r>
              <a:rPr lang="en-US" b="0" i="0" dirty="0">
                <a:solidFill>
                  <a:srgbClr val="6F4E37"/>
                </a:solidFill>
                <a:effectLst/>
              </a:rPr>
              <a:t>• Category-level revenue dependency insights</a:t>
            </a:r>
          </a:p>
          <a:p>
            <a:pPr marL="285750" indent="-285750" algn="l">
              <a:lnSpc>
                <a:spcPct val="150000"/>
              </a:lnSpc>
              <a:buFont typeface="Wingdings" panose="05000000000000000000" pitchFamily="2" charset="2"/>
              <a:buChar char="q"/>
            </a:pPr>
            <a:r>
              <a:rPr lang="en-US" b="0" i="0" dirty="0">
                <a:solidFill>
                  <a:srgbClr val="6F4E37"/>
                </a:solidFill>
                <a:effectLst/>
              </a:rPr>
              <a:t>• Identification of low-impact or underperforming menu items</a:t>
            </a:r>
          </a:p>
        </p:txBody>
      </p:sp>
    </p:spTree>
    <p:extLst>
      <p:ext uri="{BB962C8B-B14F-4D97-AF65-F5344CB8AC3E}">
        <p14:creationId xmlns:p14="http://schemas.microsoft.com/office/powerpoint/2010/main" val="3124426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9519E33E-E73E-E0D2-836B-59C79994679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0D3A1EF-D46A-1FBA-AE24-091AAB3CB4C5}"/>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3" name="TextBox 2">
            <a:extLst>
              <a:ext uri="{FF2B5EF4-FFF2-40B4-BE49-F238E27FC236}">
                <a16:creationId xmlns:a16="http://schemas.microsoft.com/office/drawing/2014/main" id="{E9755C3A-4FBE-B96B-D258-B3BB6CACF9A9}"/>
              </a:ext>
            </a:extLst>
          </p:cNvPr>
          <p:cNvSpPr txBox="1"/>
          <p:nvPr/>
        </p:nvSpPr>
        <p:spPr>
          <a:xfrm>
            <a:off x="261256" y="163679"/>
            <a:ext cx="6096000" cy="584775"/>
          </a:xfrm>
          <a:prstGeom prst="rect">
            <a:avLst/>
          </a:prstGeom>
          <a:noFill/>
        </p:spPr>
        <p:txBody>
          <a:bodyPr wrap="square">
            <a:spAutoFit/>
          </a:bodyPr>
          <a:lstStyle/>
          <a:p>
            <a:r>
              <a:rPr lang="en-US" sz="3200" b="1" dirty="0">
                <a:solidFill>
                  <a:srgbClr val="3E2723"/>
                </a:solidFill>
              </a:rPr>
              <a:t>O</a:t>
            </a:r>
            <a:r>
              <a:rPr lang="en-IN" sz="3200" b="1" dirty="0" err="1">
                <a:solidFill>
                  <a:srgbClr val="3E2723"/>
                </a:solidFill>
              </a:rPr>
              <a:t>bjectives</a:t>
            </a:r>
            <a:endParaRPr lang="en-IN" sz="3200" b="1" dirty="0">
              <a:solidFill>
                <a:srgbClr val="3E2723"/>
              </a:solidFill>
            </a:endParaRPr>
          </a:p>
        </p:txBody>
      </p:sp>
      <p:sp>
        <p:nvSpPr>
          <p:cNvPr id="5" name="TextBox 4">
            <a:extLst>
              <a:ext uri="{FF2B5EF4-FFF2-40B4-BE49-F238E27FC236}">
                <a16:creationId xmlns:a16="http://schemas.microsoft.com/office/drawing/2014/main" id="{9DA2C201-9FE1-2DF0-5E91-2A19FD1879CD}"/>
              </a:ext>
            </a:extLst>
          </p:cNvPr>
          <p:cNvSpPr txBox="1"/>
          <p:nvPr/>
        </p:nvSpPr>
        <p:spPr>
          <a:xfrm>
            <a:off x="261256" y="903905"/>
            <a:ext cx="6428014" cy="400110"/>
          </a:xfrm>
          <a:prstGeom prst="rect">
            <a:avLst/>
          </a:prstGeom>
          <a:noFill/>
        </p:spPr>
        <p:txBody>
          <a:bodyPr wrap="square">
            <a:spAutoFit/>
          </a:bodyPr>
          <a:lstStyle/>
          <a:p>
            <a:pPr algn="l">
              <a:spcAft>
                <a:spcPts val="1500"/>
              </a:spcAft>
              <a:buNone/>
            </a:pPr>
            <a:r>
              <a:rPr lang="en-IN" sz="2000" b="1" i="0" dirty="0">
                <a:solidFill>
                  <a:srgbClr val="3E2723"/>
                </a:solidFill>
                <a:effectLst/>
              </a:rPr>
              <a:t>Primary Objectives</a:t>
            </a:r>
          </a:p>
        </p:txBody>
      </p:sp>
      <p:sp>
        <p:nvSpPr>
          <p:cNvPr id="7" name="TextBox 6">
            <a:extLst>
              <a:ext uri="{FF2B5EF4-FFF2-40B4-BE49-F238E27FC236}">
                <a16:creationId xmlns:a16="http://schemas.microsoft.com/office/drawing/2014/main" id="{CE1FB026-E94A-2E85-B6D8-B711CF57175C}"/>
              </a:ext>
            </a:extLst>
          </p:cNvPr>
          <p:cNvSpPr txBox="1"/>
          <p:nvPr/>
        </p:nvSpPr>
        <p:spPr>
          <a:xfrm>
            <a:off x="261255" y="1459466"/>
            <a:ext cx="9056915" cy="1295868"/>
          </a:xfrm>
          <a:prstGeom prst="rect">
            <a:avLst/>
          </a:prstGeom>
          <a:noFill/>
        </p:spPr>
        <p:txBody>
          <a:bodyPr wrap="square">
            <a:spAutoFit/>
          </a:bodyPr>
          <a:lstStyle/>
          <a:p>
            <a:pPr marL="285750" indent="-285750" algn="l">
              <a:lnSpc>
                <a:spcPct val="150000"/>
              </a:lnSpc>
              <a:buFont typeface="Wingdings" panose="05000000000000000000" pitchFamily="2" charset="2"/>
              <a:buChar char="q"/>
            </a:pPr>
            <a:r>
              <a:rPr lang="en-US" b="0" i="0" dirty="0">
                <a:solidFill>
                  <a:srgbClr val="6F4E37"/>
                </a:solidFill>
                <a:effectLst/>
              </a:rPr>
              <a:t> Identify top-selling and least-selling products</a:t>
            </a:r>
          </a:p>
          <a:p>
            <a:pPr marL="285750" indent="-285750" algn="l">
              <a:lnSpc>
                <a:spcPct val="150000"/>
              </a:lnSpc>
              <a:buFont typeface="Wingdings" panose="05000000000000000000" pitchFamily="2" charset="2"/>
              <a:buChar char="q"/>
            </a:pPr>
            <a:r>
              <a:rPr lang="en-US" b="0" i="0" dirty="0">
                <a:solidFill>
                  <a:srgbClr val="6F4E37"/>
                </a:solidFill>
                <a:effectLst/>
              </a:rPr>
              <a:t> Quantify revenue contribution by product and category</a:t>
            </a:r>
          </a:p>
          <a:p>
            <a:pPr marL="285750" indent="-285750" algn="l">
              <a:lnSpc>
                <a:spcPct val="150000"/>
              </a:lnSpc>
              <a:buFont typeface="Wingdings" panose="05000000000000000000" pitchFamily="2" charset="2"/>
              <a:buChar char="q"/>
            </a:pPr>
            <a:r>
              <a:rPr lang="en-US" b="0" i="0" dirty="0">
                <a:solidFill>
                  <a:srgbClr val="6F4E37"/>
                </a:solidFill>
                <a:effectLst/>
              </a:rPr>
              <a:t> Measure revenue concentration across the menu</a:t>
            </a:r>
          </a:p>
        </p:txBody>
      </p:sp>
      <p:sp>
        <p:nvSpPr>
          <p:cNvPr id="9" name="TextBox 8">
            <a:extLst>
              <a:ext uri="{FF2B5EF4-FFF2-40B4-BE49-F238E27FC236}">
                <a16:creationId xmlns:a16="http://schemas.microsoft.com/office/drawing/2014/main" id="{0C3F2D6D-92C1-1694-393A-016395A10C32}"/>
              </a:ext>
            </a:extLst>
          </p:cNvPr>
          <p:cNvSpPr txBox="1"/>
          <p:nvPr/>
        </p:nvSpPr>
        <p:spPr>
          <a:xfrm>
            <a:off x="261256" y="2910785"/>
            <a:ext cx="6428014" cy="400110"/>
          </a:xfrm>
          <a:prstGeom prst="rect">
            <a:avLst/>
          </a:prstGeom>
          <a:noFill/>
        </p:spPr>
        <p:txBody>
          <a:bodyPr wrap="square">
            <a:spAutoFit/>
          </a:bodyPr>
          <a:lstStyle/>
          <a:p>
            <a:pPr algn="l">
              <a:spcAft>
                <a:spcPts val="1500"/>
              </a:spcAft>
              <a:buNone/>
            </a:pPr>
            <a:r>
              <a:rPr lang="en-IN" sz="2000" b="1" i="0" dirty="0">
                <a:solidFill>
                  <a:srgbClr val="3E2723"/>
                </a:solidFill>
                <a:effectLst/>
              </a:rPr>
              <a:t>Secondary Objectives</a:t>
            </a:r>
          </a:p>
        </p:txBody>
      </p:sp>
      <p:sp>
        <p:nvSpPr>
          <p:cNvPr id="11" name="TextBox 10">
            <a:extLst>
              <a:ext uri="{FF2B5EF4-FFF2-40B4-BE49-F238E27FC236}">
                <a16:creationId xmlns:a16="http://schemas.microsoft.com/office/drawing/2014/main" id="{3928EBBD-8FAB-E8DB-E495-1C9AEB535BD9}"/>
              </a:ext>
            </a:extLst>
          </p:cNvPr>
          <p:cNvSpPr txBox="1"/>
          <p:nvPr/>
        </p:nvSpPr>
        <p:spPr>
          <a:xfrm>
            <a:off x="261255" y="3547106"/>
            <a:ext cx="6428014" cy="1295868"/>
          </a:xfrm>
          <a:prstGeom prst="rect">
            <a:avLst/>
          </a:prstGeom>
          <a:noFill/>
        </p:spPr>
        <p:txBody>
          <a:bodyPr wrap="square">
            <a:spAutoFit/>
          </a:bodyPr>
          <a:lstStyle/>
          <a:p>
            <a:pPr marL="285750" indent="-285750" algn="l">
              <a:lnSpc>
                <a:spcPct val="150000"/>
              </a:lnSpc>
              <a:buFont typeface="Wingdings" panose="05000000000000000000" pitchFamily="2" charset="2"/>
              <a:buChar char="q"/>
            </a:pPr>
            <a:r>
              <a:rPr lang="en-US" b="0" i="0" dirty="0">
                <a:solidFill>
                  <a:srgbClr val="6F4E37"/>
                </a:solidFill>
                <a:effectLst/>
              </a:rPr>
              <a:t> Support menu simplification and optimization</a:t>
            </a:r>
          </a:p>
          <a:p>
            <a:pPr marL="285750" indent="-285750" algn="l">
              <a:lnSpc>
                <a:spcPct val="150000"/>
              </a:lnSpc>
              <a:buFont typeface="Wingdings" panose="05000000000000000000" pitchFamily="2" charset="2"/>
              <a:buChar char="q"/>
            </a:pPr>
            <a:r>
              <a:rPr lang="en-US" b="0" i="0" dirty="0">
                <a:solidFill>
                  <a:srgbClr val="6F4E37"/>
                </a:solidFill>
                <a:effectLst/>
              </a:rPr>
              <a:t> Identify high-impact “hero” products</a:t>
            </a:r>
          </a:p>
          <a:p>
            <a:pPr marL="285750" indent="-285750" algn="l">
              <a:lnSpc>
                <a:spcPct val="150000"/>
              </a:lnSpc>
              <a:buFont typeface="Wingdings" panose="05000000000000000000" pitchFamily="2" charset="2"/>
              <a:buChar char="q"/>
            </a:pPr>
            <a:r>
              <a:rPr lang="en-US" b="0" i="0" dirty="0">
                <a:solidFill>
                  <a:srgbClr val="6F4E37"/>
                </a:solidFill>
                <a:effectLst/>
              </a:rPr>
              <a:t> Highlight low-performing products for review or redesign</a:t>
            </a:r>
          </a:p>
        </p:txBody>
      </p:sp>
    </p:spTree>
    <p:extLst>
      <p:ext uri="{BB962C8B-B14F-4D97-AF65-F5344CB8AC3E}">
        <p14:creationId xmlns:p14="http://schemas.microsoft.com/office/powerpoint/2010/main" val="366879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5A2E0384-1A50-A69E-6DA7-1C6B4C53069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23A1017-B3DD-7137-446A-F5887A1BFAF6}"/>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4" name="TextBox 3">
            <a:extLst>
              <a:ext uri="{FF2B5EF4-FFF2-40B4-BE49-F238E27FC236}">
                <a16:creationId xmlns:a16="http://schemas.microsoft.com/office/drawing/2014/main" id="{BD5EBC7C-6693-9B91-2D62-3192C6CF1EBE}"/>
              </a:ext>
            </a:extLst>
          </p:cNvPr>
          <p:cNvSpPr txBox="1"/>
          <p:nvPr/>
        </p:nvSpPr>
        <p:spPr>
          <a:xfrm>
            <a:off x="187778" y="250763"/>
            <a:ext cx="6428014" cy="584775"/>
          </a:xfrm>
          <a:prstGeom prst="rect">
            <a:avLst/>
          </a:prstGeom>
          <a:noFill/>
        </p:spPr>
        <p:txBody>
          <a:bodyPr wrap="square">
            <a:spAutoFit/>
          </a:bodyPr>
          <a:lstStyle/>
          <a:p>
            <a:r>
              <a:rPr lang="en-US" sz="3200" b="1" dirty="0">
                <a:solidFill>
                  <a:srgbClr val="3E2723"/>
                </a:solidFill>
              </a:rPr>
              <a:t>Methodology </a:t>
            </a:r>
            <a:endParaRPr lang="en-IN" sz="3200" b="1" dirty="0">
              <a:solidFill>
                <a:srgbClr val="3E2723"/>
              </a:solidFill>
            </a:endParaRPr>
          </a:p>
        </p:txBody>
      </p:sp>
      <p:sp>
        <p:nvSpPr>
          <p:cNvPr id="6" name="TextBox 5">
            <a:extLst>
              <a:ext uri="{FF2B5EF4-FFF2-40B4-BE49-F238E27FC236}">
                <a16:creationId xmlns:a16="http://schemas.microsoft.com/office/drawing/2014/main" id="{9351C9D5-1C0E-A7EA-A213-1B0A13D156B0}"/>
              </a:ext>
            </a:extLst>
          </p:cNvPr>
          <p:cNvSpPr txBox="1"/>
          <p:nvPr/>
        </p:nvSpPr>
        <p:spPr>
          <a:xfrm>
            <a:off x="187778" y="835538"/>
            <a:ext cx="9021536" cy="2031325"/>
          </a:xfrm>
          <a:prstGeom prst="rect">
            <a:avLst/>
          </a:prstGeom>
          <a:noFill/>
        </p:spPr>
        <p:txBody>
          <a:bodyPr wrap="square">
            <a:spAutoFit/>
          </a:bodyPr>
          <a:lstStyle/>
          <a:p>
            <a:pPr marL="285750" indent="-285750">
              <a:buFont typeface="Wingdings" panose="05000000000000000000" pitchFamily="2" charset="2"/>
              <a:buChar char="q"/>
            </a:pPr>
            <a:r>
              <a:rPr lang="en-US" dirty="0">
                <a:solidFill>
                  <a:srgbClr val="6F4E37"/>
                </a:solidFill>
              </a:rPr>
              <a:t>This project leverages Power BI to analyze transactional sales data and uncover actionable insights into revenue distribution, product performance, category contribution, store performance, and customer purchasing patterns. </a:t>
            </a:r>
          </a:p>
          <a:p>
            <a:pPr marL="285750" indent="-285750">
              <a:buFont typeface="Wingdings" panose="05000000000000000000" pitchFamily="2" charset="2"/>
              <a:buChar char="q"/>
            </a:pPr>
            <a:r>
              <a:rPr lang="en-US" dirty="0">
                <a:solidFill>
                  <a:srgbClr val="6F4E37"/>
                </a:solidFill>
              </a:rPr>
              <a:t>The analysis helps identify high-performing products, evaluate revenue concentration using Pareto (80/20) Analysis.</a:t>
            </a:r>
          </a:p>
          <a:p>
            <a:pPr marL="285750" indent="-285750">
              <a:buFont typeface="Wingdings" panose="05000000000000000000" pitchFamily="2" charset="2"/>
              <a:buChar char="q"/>
            </a:pPr>
            <a:r>
              <a:rPr lang="en-US" dirty="0">
                <a:solidFill>
                  <a:srgbClr val="6F4E37"/>
                </a:solidFill>
              </a:rPr>
              <a:t>Highlight opportunities to optimize inventory, marketing strategies, and operational planning</a:t>
            </a:r>
            <a:r>
              <a:rPr lang="en-US" dirty="0"/>
              <a:t>.</a:t>
            </a:r>
            <a:endParaRPr lang="en-IN" dirty="0"/>
          </a:p>
        </p:txBody>
      </p:sp>
      <p:sp>
        <p:nvSpPr>
          <p:cNvPr id="8" name="TextBox 7">
            <a:extLst>
              <a:ext uri="{FF2B5EF4-FFF2-40B4-BE49-F238E27FC236}">
                <a16:creationId xmlns:a16="http://schemas.microsoft.com/office/drawing/2014/main" id="{B4DBB6E5-0583-6A75-5D95-32A74964C365}"/>
              </a:ext>
            </a:extLst>
          </p:cNvPr>
          <p:cNvSpPr txBox="1"/>
          <p:nvPr/>
        </p:nvSpPr>
        <p:spPr>
          <a:xfrm>
            <a:off x="2049235" y="2672239"/>
            <a:ext cx="3502479" cy="4185761"/>
          </a:xfrm>
          <a:prstGeom prst="rect">
            <a:avLst/>
          </a:prstGeom>
          <a:solidFill>
            <a:srgbClr val="DFCEB3">
              <a:alpha val="97000"/>
            </a:srgbClr>
          </a:solidFill>
        </p:spPr>
        <p:txBody>
          <a:bodyPr wrap="square">
            <a:spAutoFit/>
          </a:bodyPr>
          <a:lstStyle/>
          <a:p>
            <a:r>
              <a:rPr lang="en-IN" sz="1400" dirty="0">
                <a:solidFill>
                  <a:srgbClr val="3E2723"/>
                </a:solidFill>
              </a:rPr>
              <a:t>Data Collection</a:t>
            </a:r>
          </a:p>
          <a:p>
            <a:r>
              <a:rPr lang="en-IN" sz="1400" dirty="0">
                <a:solidFill>
                  <a:srgbClr val="3E2723"/>
                </a:solidFill>
              </a:rPr>
              <a:t>        ↓</a:t>
            </a:r>
          </a:p>
          <a:p>
            <a:r>
              <a:rPr lang="en-IN" sz="1400" dirty="0">
                <a:solidFill>
                  <a:srgbClr val="3E2723"/>
                </a:solidFill>
              </a:rPr>
              <a:t>Data Preparation</a:t>
            </a:r>
          </a:p>
          <a:p>
            <a:r>
              <a:rPr lang="en-IN" sz="1400" dirty="0">
                <a:solidFill>
                  <a:srgbClr val="3E2723"/>
                </a:solidFill>
              </a:rPr>
              <a:t>        ↓</a:t>
            </a:r>
          </a:p>
          <a:p>
            <a:r>
              <a:rPr lang="en-IN" sz="1400" dirty="0">
                <a:solidFill>
                  <a:srgbClr val="3E2723"/>
                </a:solidFill>
              </a:rPr>
              <a:t>Data Modelling</a:t>
            </a:r>
          </a:p>
          <a:p>
            <a:r>
              <a:rPr lang="en-IN" sz="1400" dirty="0">
                <a:solidFill>
                  <a:srgbClr val="3E2723"/>
                </a:solidFill>
              </a:rPr>
              <a:t>        ↓</a:t>
            </a:r>
          </a:p>
          <a:p>
            <a:r>
              <a:rPr lang="en-IN" sz="1400" dirty="0">
                <a:solidFill>
                  <a:srgbClr val="3E2723"/>
                </a:solidFill>
              </a:rPr>
              <a:t>DAX Development</a:t>
            </a:r>
          </a:p>
          <a:p>
            <a:r>
              <a:rPr lang="en-IN" sz="1400" dirty="0">
                <a:solidFill>
                  <a:srgbClr val="3E2723"/>
                </a:solidFill>
              </a:rPr>
              <a:t>        ↓</a:t>
            </a:r>
          </a:p>
          <a:p>
            <a:r>
              <a:rPr lang="en-IN" sz="1400" dirty="0">
                <a:solidFill>
                  <a:srgbClr val="3E2723"/>
                </a:solidFill>
              </a:rPr>
              <a:t>Exploratory Analysis</a:t>
            </a:r>
          </a:p>
          <a:p>
            <a:r>
              <a:rPr lang="en-IN" sz="1400" dirty="0">
                <a:solidFill>
                  <a:srgbClr val="3E2723"/>
                </a:solidFill>
              </a:rPr>
              <a:t>        ↓</a:t>
            </a:r>
          </a:p>
          <a:p>
            <a:r>
              <a:rPr lang="en-IN" sz="1400" dirty="0">
                <a:solidFill>
                  <a:srgbClr val="3E2723"/>
                </a:solidFill>
              </a:rPr>
              <a:t>Revenue Contribution</a:t>
            </a:r>
          </a:p>
          <a:p>
            <a:r>
              <a:rPr lang="en-IN" sz="1400" dirty="0">
                <a:solidFill>
                  <a:srgbClr val="3E2723"/>
                </a:solidFill>
              </a:rPr>
              <a:t>        ↓</a:t>
            </a:r>
          </a:p>
          <a:p>
            <a:r>
              <a:rPr lang="en-IN" sz="1400" dirty="0">
                <a:solidFill>
                  <a:srgbClr val="3E2723"/>
                </a:solidFill>
              </a:rPr>
              <a:t>Product Analysis</a:t>
            </a:r>
          </a:p>
          <a:p>
            <a:r>
              <a:rPr lang="en-IN" sz="1400" dirty="0">
                <a:solidFill>
                  <a:srgbClr val="3E2723"/>
                </a:solidFill>
              </a:rPr>
              <a:t>        ↓</a:t>
            </a:r>
          </a:p>
          <a:p>
            <a:r>
              <a:rPr lang="en-IN" sz="1400" dirty="0">
                <a:solidFill>
                  <a:srgbClr val="3E2723"/>
                </a:solidFill>
              </a:rPr>
              <a:t>Pareto Analysis</a:t>
            </a:r>
          </a:p>
          <a:p>
            <a:r>
              <a:rPr lang="en-IN" sz="1400" dirty="0">
                <a:solidFill>
                  <a:srgbClr val="3E2723"/>
                </a:solidFill>
              </a:rPr>
              <a:t>        ↓</a:t>
            </a:r>
          </a:p>
          <a:p>
            <a:r>
              <a:rPr lang="en-IN" sz="1400" dirty="0">
                <a:solidFill>
                  <a:srgbClr val="3E2723"/>
                </a:solidFill>
              </a:rPr>
              <a:t>Business Recommendations</a:t>
            </a:r>
          </a:p>
          <a:p>
            <a:r>
              <a:rPr lang="en-IN" sz="1400" dirty="0">
                <a:solidFill>
                  <a:srgbClr val="3E2723"/>
                </a:solidFill>
              </a:rPr>
              <a:t>        ↓</a:t>
            </a:r>
          </a:p>
          <a:p>
            <a:r>
              <a:rPr lang="en-IN" sz="1400" dirty="0"/>
              <a:t>Interactive Dashboard</a:t>
            </a:r>
          </a:p>
        </p:txBody>
      </p:sp>
      <p:sp>
        <p:nvSpPr>
          <p:cNvPr id="9" name="Arrow: Pentagon 8">
            <a:extLst>
              <a:ext uri="{FF2B5EF4-FFF2-40B4-BE49-F238E27FC236}">
                <a16:creationId xmlns:a16="http://schemas.microsoft.com/office/drawing/2014/main" id="{7E0E71EE-142C-7A08-9BAC-7E337410F9DB}"/>
              </a:ext>
            </a:extLst>
          </p:cNvPr>
          <p:cNvSpPr/>
          <p:nvPr/>
        </p:nvSpPr>
        <p:spPr>
          <a:xfrm>
            <a:off x="187778" y="3735323"/>
            <a:ext cx="1771651" cy="511629"/>
          </a:xfrm>
          <a:prstGeom prst="homePlate">
            <a:avLst/>
          </a:prstGeom>
          <a:ln>
            <a:solidFill>
              <a:srgbClr val="3E2723"/>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Analytical flow</a:t>
            </a:r>
            <a:endParaRPr lang="en-IN"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19337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9903A806-FE2F-50F8-CD11-DA73BD707A3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22060DC-92CD-E5AA-87E5-D3245F4EAC88}"/>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3" name="TextBox 2">
            <a:extLst>
              <a:ext uri="{FF2B5EF4-FFF2-40B4-BE49-F238E27FC236}">
                <a16:creationId xmlns:a16="http://schemas.microsoft.com/office/drawing/2014/main" id="{52051C86-FBEF-7CA8-78FA-2141BEE19C36}"/>
              </a:ext>
            </a:extLst>
          </p:cNvPr>
          <p:cNvSpPr txBox="1"/>
          <p:nvPr/>
        </p:nvSpPr>
        <p:spPr>
          <a:xfrm>
            <a:off x="187778" y="250763"/>
            <a:ext cx="6428014" cy="584775"/>
          </a:xfrm>
          <a:prstGeom prst="rect">
            <a:avLst/>
          </a:prstGeom>
          <a:noFill/>
        </p:spPr>
        <p:txBody>
          <a:bodyPr wrap="square">
            <a:spAutoFit/>
          </a:bodyPr>
          <a:lstStyle/>
          <a:p>
            <a:r>
              <a:rPr lang="en-US" sz="3200" b="1" dirty="0">
                <a:solidFill>
                  <a:srgbClr val="3E2723"/>
                </a:solidFill>
              </a:rPr>
              <a:t>Dataset overview </a:t>
            </a:r>
            <a:endParaRPr lang="en-IN" sz="3200" b="1" dirty="0">
              <a:solidFill>
                <a:srgbClr val="3E2723"/>
              </a:solidFill>
            </a:endParaRPr>
          </a:p>
        </p:txBody>
      </p:sp>
      <p:graphicFrame>
        <p:nvGraphicFramePr>
          <p:cNvPr id="4" name="Table 3">
            <a:extLst>
              <a:ext uri="{FF2B5EF4-FFF2-40B4-BE49-F238E27FC236}">
                <a16:creationId xmlns:a16="http://schemas.microsoft.com/office/drawing/2014/main" id="{4591B4A9-0C83-DBFD-5B78-7F9DF014022B}"/>
              </a:ext>
            </a:extLst>
          </p:cNvPr>
          <p:cNvGraphicFramePr>
            <a:graphicFrameLocks noGrp="1"/>
          </p:cNvGraphicFramePr>
          <p:nvPr>
            <p:extLst>
              <p:ext uri="{D42A27DB-BD31-4B8C-83A1-F6EECF244321}">
                <p14:modId xmlns:p14="http://schemas.microsoft.com/office/powerpoint/2010/main" val="1178368889"/>
              </p:ext>
            </p:extLst>
          </p:nvPr>
        </p:nvGraphicFramePr>
        <p:xfrm>
          <a:off x="282148" y="1107168"/>
          <a:ext cx="8241366" cy="4966674"/>
        </p:xfrm>
        <a:graphic>
          <a:graphicData uri="http://schemas.openxmlformats.org/drawingml/2006/table">
            <a:tbl>
              <a:tblPr>
                <a:tableStyleId>{284E427A-3D55-4303-BF80-6455036E1DE7}</a:tableStyleId>
              </a:tblPr>
              <a:tblGrid>
                <a:gridCol w="4120683">
                  <a:extLst>
                    <a:ext uri="{9D8B030D-6E8A-4147-A177-3AD203B41FA5}">
                      <a16:colId xmlns:a16="http://schemas.microsoft.com/office/drawing/2014/main" val="1948604247"/>
                    </a:ext>
                  </a:extLst>
                </a:gridCol>
                <a:gridCol w="4120683">
                  <a:extLst>
                    <a:ext uri="{9D8B030D-6E8A-4147-A177-3AD203B41FA5}">
                      <a16:colId xmlns:a16="http://schemas.microsoft.com/office/drawing/2014/main" val="2486236583"/>
                    </a:ext>
                  </a:extLst>
                </a:gridCol>
              </a:tblGrid>
              <a:tr h="229018">
                <a:tc>
                  <a:txBody>
                    <a:bodyPr/>
                    <a:lstStyle/>
                    <a:p>
                      <a:pPr>
                        <a:buNone/>
                      </a:pPr>
                      <a:r>
                        <a:rPr lang="en-IN" sz="1800" b="1" cap="all">
                          <a:solidFill>
                            <a:srgbClr val="6F4E37"/>
                          </a:solidFill>
                          <a:effectLst/>
                        </a:rPr>
                        <a:t>Column</a:t>
                      </a:r>
                    </a:p>
                  </a:txBody>
                  <a:tcPr marL="57254" marR="57254" marT="28627" marB="28627" anchor="ctr">
                    <a:solidFill>
                      <a:srgbClr val="DFCEB3"/>
                    </a:solidFill>
                  </a:tcPr>
                </a:tc>
                <a:tc>
                  <a:txBody>
                    <a:bodyPr/>
                    <a:lstStyle/>
                    <a:p>
                      <a:pPr>
                        <a:buNone/>
                      </a:pPr>
                      <a:r>
                        <a:rPr lang="en-IN" sz="1800" b="1" cap="all">
                          <a:solidFill>
                            <a:srgbClr val="6F4E37"/>
                          </a:solidFill>
                          <a:effectLst/>
                        </a:rPr>
                        <a:t>Description</a:t>
                      </a:r>
                    </a:p>
                  </a:txBody>
                  <a:tcPr marL="57254" marR="57254" marT="28627" marB="28627" anchor="ctr">
                    <a:solidFill>
                      <a:srgbClr val="DFCEB3"/>
                    </a:solidFill>
                  </a:tcPr>
                </a:tc>
                <a:extLst>
                  <a:ext uri="{0D108BD9-81ED-4DB2-BD59-A6C34878D82A}">
                    <a16:rowId xmlns:a16="http://schemas.microsoft.com/office/drawing/2014/main" val="2933823778"/>
                  </a:ext>
                </a:extLst>
              </a:tr>
              <a:tr h="400781">
                <a:tc>
                  <a:txBody>
                    <a:bodyPr/>
                    <a:lstStyle/>
                    <a:p>
                      <a:pPr>
                        <a:buNone/>
                      </a:pPr>
                      <a:r>
                        <a:rPr lang="en-IN" sz="1800" dirty="0" err="1">
                          <a:solidFill>
                            <a:srgbClr val="6F4E37"/>
                          </a:solidFill>
                          <a:effectLst/>
                        </a:rPr>
                        <a:t>transaction_id</a:t>
                      </a:r>
                      <a:endParaRPr lang="en-IN" sz="1800" dirty="0">
                        <a:solidFill>
                          <a:srgbClr val="6F4E37"/>
                        </a:solidFill>
                        <a:effectLst/>
                      </a:endParaRPr>
                    </a:p>
                  </a:txBody>
                  <a:tcPr marL="57254" marR="57254" marT="28627" marB="28627" anchor="ctr">
                    <a:solidFill>
                      <a:srgbClr val="DFCEB3"/>
                    </a:solidFill>
                  </a:tcPr>
                </a:tc>
                <a:tc>
                  <a:txBody>
                    <a:bodyPr/>
                    <a:lstStyle/>
                    <a:p>
                      <a:pPr>
                        <a:buNone/>
                      </a:pPr>
                      <a:r>
                        <a:rPr lang="en-IN" sz="1800">
                          <a:solidFill>
                            <a:srgbClr val="6F4E37"/>
                          </a:solidFill>
                          <a:effectLst/>
                        </a:rPr>
                        <a:t>Unique identifier per transaction</a:t>
                      </a:r>
                    </a:p>
                  </a:txBody>
                  <a:tcPr marL="57254" marR="57254" marT="28627" marB="28627" anchor="ctr">
                    <a:solidFill>
                      <a:srgbClr val="DFCEB3"/>
                    </a:solidFill>
                  </a:tcPr>
                </a:tc>
                <a:extLst>
                  <a:ext uri="{0D108BD9-81ED-4DB2-BD59-A6C34878D82A}">
                    <a16:rowId xmlns:a16="http://schemas.microsoft.com/office/drawing/2014/main" val="3752932718"/>
                  </a:ext>
                </a:extLst>
              </a:tr>
              <a:tr h="400781">
                <a:tc>
                  <a:txBody>
                    <a:bodyPr/>
                    <a:lstStyle/>
                    <a:p>
                      <a:pPr>
                        <a:buNone/>
                      </a:pPr>
                      <a:r>
                        <a:rPr lang="en-IN" sz="1800">
                          <a:solidFill>
                            <a:srgbClr val="6F4E37"/>
                          </a:solidFill>
                          <a:effectLst/>
                        </a:rPr>
                        <a:t>year</a:t>
                      </a:r>
                    </a:p>
                  </a:txBody>
                  <a:tcPr marL="57254" marR="57254" marT="28627" marB="28627" anchor="ctr">
                    <a:solidFill>
                      <a:srgbClr val="DFCEB3"/>
                    </a:solidFill>
                  </a:tcPr>
                </a:tc>
                <a:tc>
                  <a:txBody>
                    <a:bodyPr/>
                    <a:lstStyle/>
                    <a:p>
                      <a:pPr>
                        <a:buNone/>
                      </a:pPr>
                      <a:r>
                        <a:rPr lang="en-IN" sz="1800">
                          <a:solidFill>
                            <a:srgbClr val="6F4E37"/>
                          </a:solidFill>
                          <a:effectLst/>
                        </a:rPr>
                        <a:t>Transaction year (2025)</a:t>
                      </a:r>
                    </a:p>
                  </a:txBody>
                  <a:tcPr marL="57254" marR="57254" marT="28627" marB="28627" anchor="ctr">
                    <a:solidFill>
                      <a:srgbClr val="DFCEB3"/>
                    </a:solidFill>
                  </a:tcPr>
                </a:tc>
                <a:extLst>
                  <a:ext uri="{0D108BD9-81ED-4DB2-BD59-A6C34878D82A}">
                    <a16:rowId xmlns:a16="http://schemas.microsoft.com/office/drawing/2014/main" val="2564279765"/>
                  </a:ext>
                </a:extLst>
              </a:tr>
              <a:tr h="400781">
                <a:tc>
                  <a:txBody>
                    <a:bodyPr/>
                    <a:lstStyle/>
                    <a:p>
                      <a:pPr>
                        <a:buNone/>
                      </a:pPr>
                      <a:r>
                        <a:rPr lang="en-IN" sz="1800">
                          <a:solidFill>
                            <a:srgbClr val="6F4E37"/>
                          </a:solidFill>
                          <a:effectLst/>
                        </a:rPr>
                        <a:t>transaction_time</a:t>
                      </a:r>
                    </a:p>
                  </a:txBody>
                  <a:tcPr marL="57254" marR="57254" marT="28627" marB="28627" anchor="ctr">
                    <a:solidFill>
                      <a:srgbClr val="DFCEB3"/>
                    </a:solidFill>
                  </a:tcPr>
                </a:tc>
                <a:tc>
                  <a:txBody>
                    <a:bodyPr/>
                    <a:lstStyle/>
                    <a:p>
                      <a:pPr>
                        <a:buNone/>
                      </a:pPr>
                      <a:r>
                        <a:rPr lang="en-US" sz="1800">
                          <a:solidFill>
                            <a:srgbClr val="6F4E37"/>
                          </a:solidFill>
                          <a:effectLst/>
                        </a:rPr>
                        <a:t>Time of transaction (HH:MM:SS)</a:t>
                      </a:r>
                    </a:p>
                  </a:txBody>
                  <a:tcPr marL="57254" marR="57254" marT="28627" marB="28627" anchor="ctr">
                    <a:solidFill>
                      <a:srgbClr val="DFCEB3"/>
                    </a:solidFill>
                  </a:tcPr>
                </a:tc>
                <a:extLst>
                  <a:ext uri="{0D108BD9-81ED-4DB2-BD59-A6C34878D82A}">
                    <a16:rowId xmlns:a16="http://schemas.microsoft.com/office/drawing/2014/main" val="2262994990"/>
                  </a:ext>
                </a:extLst>
              </a:tr>
              <a:tr h="229018">
                <a:tc>
                  <a:txBody>
                    <a:bodyPr/>
                    <a:lstStyle/>
                    <a:p>
                      <a:pPr>
                        <a:buNone/>
                      </a:pPr>
                      <a:r>
                        <a:rPr lang="en-IN" sz="1800">
                          <a:solidFill>
                            <a:srgbClr val="6F4E37"/>
                          </a:solidFill>
                          <a:effectLst/>
                        </a:rPr>
                        <a:t>transaction_qty</a:t>
                      </a:r>
                    </a:p>
                  </a:txBody>
                  <a:tcPr marL="57254" marR="57254" marT="28627" marB="28627" anchor="ctr">
                    <a:solidFill>
                      <a:srgbClr val="DFCEB3"/>
                    </a:solidFill>
                  </a:tcPr>
                </a:tc>
                <a:tc>
                  <a:txBody>
                    <a:bodyPr/>
                    <a:lstStyle/>
                    <a:p>
                      <a:pPr>
                        <a:buNone/>
                      </a:pPr>
                      <a:r>
                        <a:rPr lang="en-IN" sz="1800">
                          <a:solidFill>
                            <a:srgbClr val="6F4E37"/>
                          </a:solidFill>
                          <a:effectLst/>
                        </a:rPr>
                        <a:t>Quantity purchased</a:t>
                      </a:r>
                    </a:p>
                  </a:txBody>
                  <a:tcPr marL="57254" marR="57254" marT="28627" marB="28627" anchor="ctr">
                    <a:solidFill>
                      <a:srgbClr val="DFCEB3"/>
                    </a:solidFill>
                  </a:tcPr>
                </a:tc>
                <a:extLst>
                  <a:ext uri="{0D108BD9-81ED-4DB2-BD59-A6C34878D82A}">
                    <a16:rowId xmlns:a16="http://schemas.microsoft.com/office/drawing/2014/main" val="832913126"/>
                  </a:ext>
                </a:extLst>
              </a:tr>
              <a:tr h="229018">
                <a:tc>
                  <a:txBody>
                    <a:bodyPr/>
                    <a:lstStyle/>
                    <a:p>
                      <a:pPr>
                        <a:buNone/>
                      </a:pPr>
                      <a:r>
                        <a:rPr lang="en-IN" sz="1800">
                          <a:solidFill>
                            <a:srgbClr val="6F4E37"/>
                          </a:solidFill>
                          <a:effectLst/>
                        </a:rPr>
                        <a:t>unit_price</a:t>
                      </a:r>
                    </a:p>
                  </a:txBody>
                  <a:tcPr marL="57254" marR="57254" marT="28627" marB="28627" anchor="ctr">
                    <a:solidFill>
                      <a:srgbClr val="DFCEB3"/>
                    </a:solidFill>
                  </a:tcPr>
                </a:tc>
                <a:tc>
                  <a:txBody>
                    <a:bodyPr/>
                    <a:lstStyle/>
                    <a:p>
                      <a:pPr>
                        <a:buNone/>
                      </a:pPr>
                      <a:r>
                        <a:rPr lang="en-IN" sz="1800">
                          <a:solidFill>
                            <a:srgbClr val="6F4E37"/>
                          </a:solidFill>
                          <a:effectLst/>
                        </a:rPr>
                        <a:t>Price per unit</a:t>
                      </a:r>
                    </a:p>
                  </a:txBody>
                  <a:tcPr marL="57254" marR="57254" marT="28627" marB="28627" anchor="ctr">
                    <a:solidFill>
                      <a:srgbClr val="DFCEB3"/>
                    </a:solidFill>
                  </a:tcPr>
                </a:tc>
                <a:extLst>
                  <a:ext uri="{0D108BD9-81ED-4DB2-BD59-A6C34878D82A}">
                    <a16:rowId xmlns:a16="http://schemas.microsoft.com/office/drawing/2014/main" val="3424320090"/>
                  </a:ext>
                </a:extLst>
              </a:tr>
              <a:tr h="229018">
                <a:tc>
                  <a:txBody>
                    <a:bodyPr/>
                    <a:lstStyle/>
                    <a:p>
                      <a:pPr>
                        <a:buNone/>
                      </a:pPr>
                      <a:r>
                        <a:rPr lang="en-IN" sz="1800">
                          <a:solidFill>
                            <a:srgbClr val="6F4E37"/>
                          </a:solidFill>
                          <a:effectLst/>
                        </a:rPr>
                        <a:t>store_id</a:t>
                      </a:r>
                    </a:p>
                  </a:txBody>
                  <a:tcPr marL="57254" marR="57254" marT="28627" marB="28627" anchor="ctr">
                    <a:solidFill>
                      <a:srgbClr val="DFCEB3"/>
                    </a:solidFill>
                  </a:tcPr>
                </a:tc>
                <a:tc>
                  <a:txBody>
                    <a:bodyPr/>
                    <a:lstStyle/>
                    <a:p>
                      <a:pPr>
                        <a:buNone/>
                      </a:pPr>
                      <a:r>
                        <a:rPr lang="en-IN" sz="1800">
                          <a:solidFill>
                            <a:srgbClr val="6F4E37"/>
                          </a:solidFill>
                          <a:effectLst/>
                        </a:rPr>
                        <a:t>Store identifier</a:t>
                      </a:r>
                    </a:p>
                  </a:txBody>
                  <a:tcPr marL="57254" marR="57254" marT="28627" marB="28627" anchor="ctr">
                    <a:solidFill>
                      <a:srgbClr val="DFCEB3"/>
                    </a:solidFill>
                  </a:tcPr>
                </a:tc>
                <a:extLst>
                  <a:ext uri="{0D108BD9-81ED-4DB2-BD59-A6C34878D82A}">
                    <a16:rowId xmlns:a16="http://schemas.microsoft.com/office/drawing/2014/main" val="1847826825"/>
                  </a:ext>
                </a:extLst>
              </a:tr>
              <a:tr h="400781">
                <a:tc>
                  <a:txBody>
                    <a:bodyPr/>
                    <a:lstStyle/>
                    <a:p>
                      <a:pPr>
                        <a:buNone/>
                      </a:pPr>
                      <a:r>
                        <a:rPr lang="en-IN" sz="1800">
                          <a:solidFill>
                            <a:srgbClr val="6F4E37"/>
                          </a:solidFill>
                          <a:effectLst/>
                        </a:rPr>
                        <a:t>store_location</a:t>
                      </a:r>
                    </a:p>
                  </a:txBody>
                  <a:tcPr marL="57254" marR="57254" marT="28627" marB="28627" anchor="ctr">
                    <a:solidFill>
                      <a:srgbClr val="DFCEB3"/>
                    </a:solidFill>
                  </a:tcPr>
                </a:tc>
                <a:tc>
                  <a:txBody>
                    <a:bodyPr/>
                    <a:lstStyle/>
                    <a:p>
                      <a:pPr>
                        <a:buNone/>
                      </a:pPr>
                      <a:r>
                        <a:rPr lang="en-IN" sz="1800" dirty="0">
                          <a:solidFill>
                            <a:srgbClr val="6F4E37"/>
                          </a:solidFill>
                          <a:effectLst/>
                        </a:rPr>
                        <a:t>Physical store location</a:t>
                      </a:r>
                    </a:p>
                  </a:txBody>
                  <a:tcPr marL="57254" marR="57254" marT="28627" marB="28627" anchor="ctr">
                    <a:solidFill>
                      <a:srgbClr val="DFCEB3"/>
                    </a:solidFill>
                  </a:tcPr>
                </a:tc>
                <a:extLst>
                  <a:ext uri="{0D108BD9-81ED-4DB2-BD59-A6C34878D82A}">
                    <a16:rowId xmlns:a16="http://schemas.microsoft.com/office/drawing/2014/main" val="912080136"/>
                  </a:ext>
                </a:extLst>
              </a:tr>
              <a:tr h="229018">
                <a:tc>
                  <a:txBody>
                    <a:bodyPr/>
                    <a:lstStyle/>
                    <a:p>
                      <a:pPr>
                        <a:buNone/>
                      </a:pPr>
                      <a:r>
                        <a:rPr lang="en-IN" sz="1800">
                          <a:solidFill>
                            <a:srgbClr val="6F4E37"/>
                          </a:solidFill>
                          <a:effectLst/>
                        </a:rPr>
                        <a:t>Balance</a:t>
                      </a:r>
                    </a:p>
                  </a:txBody>
                  <a:tcPr marL="57254" marR="57254" marT="28627" marB="28627" anchor="ctr">
                    <a:solidFill>
                      <a:srgbClr val="DFCEB3"/>
                    </a:solidFill>
                  </a:tcPr>
                </a:tc>
                <a:tc>
                  <a:txBody>
                    <a:bodyPr/>
                    <a:lstStyle/>
                    <a:p>
                      <a:pPr>
                        <a:buNone/>
                      </a:pPr>
                      <a:r>
                        <a:rPr lang="en-IN" sz="1800">
                          <a:solidFill>
                            <a:srgbClr val="6F4E37"/>
                          </a:solidFill>
                          <a:effectLst/>
                        </a:rPr>
                        <a:t>Account balance</a:t>
                      </a:r>
                    </a:p>
                  </a:txBody>
                  <a:tcPr marL="57254" marR="57254" marT="28627" marB="28627" anchor="ctr">
                    <a:solidFill>
                      <a:srgbClr val="DFCEB3"/>
                    </a:solidFill>
                  </a:tcPr>
                </a:tc>
                <a:extLst>
                  <a:ext uri="{0D108BD9-81ED-4DB2-BD59-A6C34878D82A}">
                    <a16:rowId xmlns:a16="http://schemas.microsoft.com/office/drawing/2014/main" val="1156740553"/>
                  </a:ext>
                </a:extLst>
              </a:tr>
              <a:tr h="400781">
                <a:tc>
                  <a:txBody>
                    <a:bodyPr/>
                    <a:lstStyle/>
                    <a:p>
                      <a:pPr>
                        <a:buNone/>
                      </a:pPr>
                      <a:r>
                        <a:rPr lang="en-IN" sz="1800" dirty="0" err="1">
                          <a:solidFill>
                            <a:srgbClr val="6F4E37"/>
                          </a:solidFill>
                          <a:effectLst/>
                        </a:rPr>
                        <a:t>product_id</a:t>
                      </a:r>
                      <a:endParaRPr lang="en-IN" sz="1800" dirty="0">
                        <a:solidFill>
                          <a:srgbClr val="6F4E37"/>
                        </a:solidFill>
                        <a:effectLst/>
                      </a:endParaRPr>
                    </a:p>
                  </a:txBody>
                  <a:tcPr marL="57254" marR="57254" marT="28627" marB="28627" anchor="ctr">
                    <a:solidFill>
                      <a:srgbClr val="DFCEB3"/>
                    </a:solidFill>
                  </a:tcPr>
                </a:tc>
                <a:tc>
                  <a:txBody>
                    <a:bodyPr/>
                    <a:lstStyle/>
                    <a:p>
                      <a:pPr>
                        <a:buNone/>
                      </a:pPr>
                      <a:r>
                        <a:rPr lang="en-US" sz="1800">
                          <a:solidFill>
                            <a:srgbClr val="6F4E37"/>
                          </a:solidFill>
                          <a:effectLst/>
                        </a:rPr>
                        <a:t>Unique identifier for each product</a:t>
                      </a:r>
                    </a:p>
                  </a:txBody>
                  <a:tcPr marL="57254" marR="57254" marT="28627" marB="28627" anchor="ctr">
                    <a:solidFill>
                      <a:srgbClr val="DFCEB3"/>
                    </a:solidFill>
                  </a:tcPr>
                </a:tc>
                <a:extLst>
                  <a:ext uri="{0D108BD9-81ED-4DB2-BD59-A6C34878D82A}">
                    <a16:rowId xmlns:a16="http://schemas.microsoft.com/office/drawing/2014/main" val="2745108034"/>
                  </a:ext>
                </a:extLst>
              </a:tr>
              <a:tr h="229018">
                <a:tc>
                  <a:txBody>
                    <a:bodyPr/>
                    <a:lstStyle/>
                    <a:p>
                      <a:pPr>
                        <a:buNone/>
                      </a:pPr>
                      <a:r>
                        <a:rPr lang="en-IN" sz="1800">
                          <a:solidFill>
                            <a:srgbClr val="6F4E37"/>
                          </a:solidFill>
                          <a:effectLst/>
                        </a:rPr>
                        <a:t>product_category</a:t>
                      </a:r>
                    </a:p>
                  </a:txBody>
                  <a:tcPr marL="57254" marR="57254" marT="28627" marB="28627" anchor="ctr">
                    <a:solidFill>
                      <a:srgbClr val="DFCEB3"/>
                    </a:solidFill>
                  </a:tcPr>
                </a:tc>
                <a:tc>
                  <a:txBody>
                    <a:bodyPr/>
                    <a:lstStyle/>
                    <a:p>
                      <a:pPr>
                        <a:buNone/>
                      </a:pPr>
                      <a:r>
                        <a:rPr lang="en-IN" sz="1800">
                          <a:solidFill>
                            <a:srgbClr val="6F4E37"/>
                          </a:solidFill>
                          <a:effectLst/>
                        </a:rPr>
                        <a:t>Broad product group</a:t>
                      </a:r>
                    </a:p>
                  </a:txBody>
                  <a:tcPr marL="57254" marR="57254" marT="28627" marB="28627" anchor="ctr">
                    <a:solidFill>
                      <a:srgbClr val="DFCEB3"/>
                    </a:solidFill>
                  </a:tcPr>
                </a:tc>
                <a:extLst>
                  <a:ext uri="{0D108BD9-81ED-4DB2-BD59-A6C34878D82A}">
                    <a16:rowId xmlns:a16="http://schemas.microsoft.com/office/drawing/2014/main" val="211705402"/>
                  </a:ext>
                </a:extLst>
              </a:tr>
              <a:tr h="400781">
                <a:tc>
                  <a:txBody>
                    <a:bodyPr/>
                    <a:lstStyle/>
                    <a:p>
                      <a:pPr>
                        <a:buNone/>
                      </a:pPr>
                      <a:r>
                        <a:rPr lang="en-IN" sz="1800">
                          <a:solidFill>
                            <a:srgbClr val="6F4E37"/>
                          </a:solidFill>
                          <a:effectLst/>
                        </a:rPr>
                        <a:t>product_type</a:t>
                      </a:r>
                    </a:p>
                  </a:txBody>
                  <a:tcPr marL="57254" marR="57254" marT="28627" marB="28627" anchor="ctr">
                    <a:solidFill>
                      <a:srgbClr val="DFCEB3"/>
                    </a:solidFill>
                  </a:tcPr>
                </a:tc>
                <a:tc>
                  <a:txBody>
                    <a:bodyPr/>
                    <a:lstStyle/>
                    <a:p>
                      <a:pPr>
                        <a:buNone/>
                      </a:pPr>
                      <a:r>
                        <a:rPr lang="en-US" sz="1800">
                          <a:solidFill>
                            <a:srgbClr val="6F4E37"/>
                          </a:solidFill>
                          <a:effectLst/>
                        </a:rPr>
                        <a:t>Product variant within the category</a:t>
                      </a:r>
                    </a:p>
                  </a:txBody>
                  <a:tcPr marL="57254" marR="57254" marT="28627" marB="28627" anchor="ctr">
                    <a:solidFill>
                      <a:srgbClr val="DFCEB3"/>
                    </a:solidFill>
                  </a:tcPr>
                </a:tc>
                <a:extLst>
                  <a:ext uri="{0D108BD9-81ED-4DB2-BD59-A6C34878D82A}">
                    <a16:rowId xmlns:a16="http://schemas.microsoft.com/office/drawing/2014/main" val="2456323473"/>
                  </a:ext>
                </a:extLst>
              </a:tr>
              <a:tr h="572544">
                <a:tc>
                  <a:txBody>
                    <a:bodyPr/>
                    <a:lstStyle/>
                    <a:p>
                      <a:pPr>
                        <a:buNone/>
                      </a:pPr>
                      <a:r>
                        <a:rPr lang="en-IN" sz="1800" dirty="0" err="1">
                          <a:solidFill>
                            <a:srgbClr val="6F4E37"/>
                          </a:solidFill>
                          <a:effectLst/>
                        </a:rPr>
                        <a:t>product_detail</a:t>
                      </a:r>
                      <a:endParaRPr lang="en-IN" sz="1800" dirty="0">
                        <a:solidFill>
                          <a:srgbClr val="6F4E37"/>
                        </a:solidFill>
                        <a:effectLst/>
                      </a:endParaRPr>
                    </a:p>
                  </a:txBody>
                  <a:tcPr marL="57254" marR="57254" marT="28627" marB="28627" anchor="ctr">
                    <a:solidFill>
                      <a:srgbClr val="DFCEB3"/>
                    </a:solidFill>
                  </a:tcPr>
                </a:tc>
                <a:tc>
                  <a:txBody>
                    <a:bodyPr/>
                    <a:lstStyle/>
                    <a:p>
                      <a:pPr>
                        <a:buNone/>
                      </a:pPr>
                      <a:r>
                        <a:rPr lang="en-US" sz="1800" dirty="0">
                          <a:solidFill>
                            <a:srgbClr val="6F4E37"/>
                          </a:solidFill>
                          <a:effectLst/>
                        </a:rPr>
                        <a:t>Detailed attributes such as flavor or blend</a:t>
                      </a:r>
                    </a:p>
                  </a:txBody>
                  <a:tcPr marL="57254" marR="57254" marT="28627" marB="28627" anchor="ctr">
                    <a:solidFill>
                      <a:srgbClr val="DFCEB3"/>
                    </a:solidFill>
                  </a:tcPr>
                </a:tc>
                <a:extLst>
                  <a:ext uri="{0D108BD9-81ED-4DB2-BD59-A6C34878D82A}">
                    <a16:rowId xmlns:a16="http://schemas.microsoft.com/office/drawing/2014/main" val="2184913537"/>
                  </a:ext>
                </a:extLst>
              </a:tr>
            </a:tbl>
          </a:graphicData>
        </a:graphic>
      </p:graphicFrame>
    </p:spTree>
    <p:extLst>
      <p:ext uri="{BB962C8B-B14F-4D97-AF65-F5344CB8AC3E}">
        <p14:creationId xmlns:p14="http://schemas.microsoft.com/office/powerpoint/2010/main" val="3845625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a:extLst>
            <a:ext uri="{FF2B5EF4-FFF2-40B4-BE49-F238E27FC236}">
              <a16:creationId xmlns:a16="http://schemas.microsoft.com/office/drawing/2014/main" id="{3CC68536-C535-126E-F34B-FB82C02C79F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7BAE71C-F3C4-50EE-92C4-642C2B0109BA}"/>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4" name="TextBox 3">
            <a:extLst>
              <a:ext uri="{FF2B5EF4-FFF2-40B4-BE49-F238E27FC236}">
                <a16:creationId xmlns:a16="http://schemas.microsoft.com/office/drawing/2014/main" id="{C562D112-85EE-E8CF-188E-0FE581130D3D}"/>
              </a:ext>
            </a:extLst>
          </p:cNvPr>
          <p:cNvSpPr txBox="1"/>
          <p:nvPr/>
        </p:nvSpPr>
        <p:spPr>
          <a:xfrm>
            <a:off x="187778" y="207219"/>
            <a:ext cx="6428014" cy="584775"/>
          </a:xfrm>
          <a:prstGeom prst="rect">
            <a:avLst/>
          </a:prstGeom>
          <a:noFill/>
        </p:spPr>
        <p:txBody>
          <a:bodyPr wrap="square">
            <a:spAutoFit/>
          </a:bodyPr>
          <a:lstStyle/>
          <a:p>
            <a:r>
              <a:rPr lang="en-IN" sz="3200" b="1" dirty="0">
                <a:solidFill>
                  <a:srgbClr val="3E2723"/>
                </a:solidFill>
              </a:rPr>
              <a:t>Data Cleaning &amp; Transformation</a:t>
            </a:r>
          </a:p>
        </p:txBody>
      </p:sp>
      <p:sp>
        <p:nvSpPr>
          <p:cNvPr id="6" name="TextBox 5">
            <a:extLst>
              <a:ext uri="{FF2B5EF4-FFF2-40B4-BE49-F238E27FC236}">
                <a16:creationId xmlns:a16="http://schemas.microsoft.com/office/drawing/2014/main" id="{C4C27D55-AA7A-206F-B21F-98289E04CA43}"/>
              </a:ext>
            </a:extLst>
          </p:cNvPr>
          <p:cNvSpPr txBox="1"/>
          <p:nvPr/>
        </p:nvSpPr>
        <p:spPr>
          <a:xfrm>
            <a:off x="187777" y="751344"/>
            <a:ext cx="8912679" cy="5866350"/>
          </a:xfrm>
          <a:prstGeom prst="rect">
            <a:avLst/>
          </a:prstGeom>
          <a:noFill/>
        </p:spPr>
        <p:txBody>
          <a:bodyPr wrap="square">
            <a:spAutoFit/>
          </a:bodyPr>
          <a:lstStyle/>
          <a:p>
            <a:pPr>
              <a:lnSpc>
                <a:spcPct val="150000"/>
              </a:lnSpc>
            </a:pPr>
            <a:r>
              <a:rPr lang="en-US" dirty="0">
                <a:solidFill>
                  <a:srgbClr val="6F4E37"/>
                </a:solidFill>
              </a:rPr>
              <a:t>Verified transaction, product, and store data for completeness. </a:t>
            </a:r>
            <a:endParaRPr lang="en-US" b="1" dirty="0">
              <a:solidFill>
                <a:srgbClr val="6F4E37"/>
              </a:solidFill>
            </a:endParaRPr>
          </a:p>
          <a:p>
            <a:pPr>
              <a:lnSpc>
                <a:spcPct val="150000"/>
              </a:lnSpc>
              <a:buFont typeface="Arial" panose="020B0604020202020204" pitchFamily="34" charset="0"/>
              <a:buChar char="•"/>
            </a:pPr>
            <a:r>
              <a:rPr lang="en-US" dirty="0">
                <a:solidFill>
                  <a:srgbClr val="6F4E37"/>
                </a:solidFill>
              </a:rPr>
              <a:t>Converted date, time, quantity, price, and revenue columns to appropriate data types. </a:t>
            </a:r>
          </a:p>
          <a:p>
            <a:pPr>
              <a:lnSpc>
                <a:spcPct val="150000"/>
              </a:lnSpc>
              <a:buFont typeface="Arial" panose="020B0604020202020204" pitchFamily="34" charset="0"/>
              <a:buChar char="•"/>
            </a:pPr>
            <a:r>
              <a:rPr lang="en-US" dirty="0">
                <a:solidFill>
                  <a:srgbClr val="6F4E37"/>
                </a:solidFill>
              </a:rPr>
              <a:t>Ensured numeric fields were correctly formatted for calculations. </a:t>
            </a:r>
            <a:endParaRPr lang="en-US" b="1" dirty="0">
              <a:solidFill>
                <a:srgbClr val="6F4E37"/>
              </a:solidFill>
            </a:endParaRPr>
          </a:p>
          <a:p>
            <a:pPr>
              <a:lnSpc>
                <a:spcPct val="150000"/>
              </a:lnSpc>
              <a:buFont typeface="Arial" panose="020B0604020202020204" pitchFamily="34" charset="0"/>
              <a:buChar char="•"/>
            </a:pPr>
            <a:r>
              <a:rPr lang="en-US" dirty="0">
                <a:solidFill>
                  <a:srgbClr val="6F4E37"/>
                </a:solidFill>
              </a:rPr>
              <a:t>Created a </a:t>
            </a:r>
            <a:r>
              <a:rPr lang="en-US" b="1" dirty="0">
                <a:solidFill>
                  <a:srgbClr val="6F4E37"/>
                </a:solidFill>
              </a:rPr>
              <a:t>Revenue</a:t>
            </a:r>
            <a:r>
              <a:rPr lang="en-US" dirty="0">
                <a:solidFill>
                  <a:srgbClr val="6F4E37"/>
                </a:solidFill>
              </a:rPr>
              <a:t> column by multiplying </a:t>
            </a:r>
            <a:r>
              <a:rPr lang="en-US" b="1" dirty="0">
                <a:solidFill>
                  <a:srgbClr val="6F4E37"/>
                </a:solidFill>
              </a:rPr>
              <a:t>Unit Price × Quantity</a:t>
            </a:r>
            <a:r>
              <a:rPr lang="en-US" dirty="0">
                <a:solidFill>
                  <a:srgbClr val="6F4E37"/>
                </a:solidFill>
              </a:rPr>
              <a:t>. </a:t>
            </a:r>
          </a:p>
          <a:p>
            <a:pPr>
              <a:lnSpc>
                <a:spcPct val="150000"/>
              </a:lnSpc>
              <a:buFont typeface="Arial" panose="020B0604020202020204" pitchFamily="34" charset="0"/>
              <a:buChar char="•"/>
            </a:pPr>
            <a:r>
              <a:rPr lang="en-US" dirty="0">
                <a:solidFill>
                  <a:srgbClr val="6F4E37"/>
                </a:solidFill>
              </a:rPr>
              <a:t>Used the calculated revenue for all business KPIs and performance analysis. </a:t>
            </a:r>
            <a:endParaRPr lang="en-US" b="1" dirty="0">
              <a:solidFill>
                <a:srgbClr val="6F4E37"/>
              </a:solidFill>
            </a:endParaRPr>
          </a:p>
          <a:p>
            <a:pPr>
              <a:lnSpc>
                <a:spcPct val="150000"/>
              </a:lnSpc>
              <a:buFont typeface="Arial" panose="020B0604020202020204" pitchFamily="34" charset="0"/>
              <a:buChar char="•"/>
            </a:pPr>
            <a:r>
              <a:rPr lang="en-US" dirty="0">
                <a:solidFill>
                  <a:srgbClr val="6F4E37"/>
                </a:solidFill>
              </a:rPr>
              <a:t>Created a </a:t>
            </a:r>
            <a:r>
              <a:rPr lang="en-US" b="1" dirty="0">
                <a:solidFill>
                  <a:srgbClr val="6F4E37"/>
                </a:solidFill>
              </a:rPr>
              <a:t>Time Slot</a:t>
            </a:r>
            <a:r>
              <a:rPr lang="en-US" dirty="0">
                <a:solidFill>
                  <a:srgbClr val="6F4E37"/>
                </a:solidFill>
              </a:rPr>
              <a:t> column from the transaction time. </a:t>
            </a:r>
          </a:p>
          <a:p>
            <a:pPr>
              <a:lnSpc>
                <a:spcPct val="150000"/>
              </a:lnSpc>
              <a:buFont typeface="Arial" panose="020B0604020202020204" pitchFamily="34" charset="0"/>
              <a:buChar char="•"/>
            </a:pPr>
            <a:r>
              <a:rPr lang="en-US" dirty="0">
                <a:solidFill>
                  <a:srgbClr val="6F4E37"/>
                </a:solidFill>
              </a:rPr>
              <a:t>Classified transactions into: </a:t>
            </a:r>
          </a:p>
          <a:p>
            <a:pPr marL="742950" lvl="1" indent="-285750">
              <a:lnSpc>
                <a:spcPct val="150000"/>
              </a:lnSpc>
              <a:buFont typeface="Arial" panose="020B0604020202020204" pitchFamily="34" charset="0"/>
              <a:buChar char="•"/>
            </a:pPr>
            <a:r>
              <a:rPr lang="en-US" dirty="0">
                <a:solidFill>
                  <a:srgbClr val="6F4E37"/>
                </a:solidFill>
              </a:rPr>
              <a:t>Morning </a:t>
            </a:r>
          </a:p>
          <a:p>
            <a:pPr marL="742950" lvl="1" indent="-285750">
              <a:lnSpc>
                <a:spcPct val="150000"/>
              </a:lnSpc>
              <a:buFont typeface="Arial" panose="020B0604020202020204" pitchFamily="34" charset="0"/>
              <a:buChar char="•"/>
            </a:pPr>
            <a:r>
              <a:rPr lang="en-US" dirty="0">
                <a:solidFill>
                  <a:srgbClr val="6F4E37"/>
                </a:solidFill>
              </a:rPr>
              <a:t>Afternoon </a:t>
            </a:r>
          </a:p>
          <a:p>
            <a:pPr marL="742950" lvl="1" indent="-285750">
              <a:lnSpc>
                <a:spcPct val="150000"/>
              </a:lnSpc>
              <a:buFont typeface="Arial" panose="020B0604020202020204" pitchFamily="34" charset="0"/>
              <a:buChar char="•"/>
            </a:pPr>
            <a:r>
              <a:rPr lang="en-US" dirty="0">
                <a:solidFill>
                  <a:srgbClr val="6F4E37"/>
                </a:solidFill>
              </a:rPr>
              <a:t>Evening </a:t>
            </a:r>
          </a:p>
          <a:p>
            <a:pPr>
              <a:lnSpc>
                <a:spcPct val="150000"/>
              </a:lnSpc>
              <a:buFont typeface="Arial" panose="020B0604020202020204" pitchFamily="34" charset="0"/>
              <a:buChar char="•"/>
            </a:pPr>
            <a:r>
              <a:rPr lang="en-US" dirty="0">
                <a:solidFill>
                  <a:srgbClr val="6F4E37"/>
                </a:solidFill>
              </a:rPr>
              <a:t>Enabled time-based sales and revenue analysis. </a:t>
            </a:r>
            <a:endParaRPr lang="en-US" b="1" dirty="0">
              <a:solidFill>
                <a:srgbClr val="6F4E37"/>
              </a:solidFill>
            </a:endParaRPr>
          </a:p>
          <a:p>
            <a:pPr>
              <a:lnSpc>
                <a:spcPct val="150000"/>
              </a:lnSpc>
              <a:buFont typeface="Arial" panose="020B0604020202020204" pitchFamily="34" charset="0"/>
              <a:buChar char="•"/>
            </a:pPr>
            <a:r>
              <a:rPr lang="en-US" dirty="0">
                <a:solidFill>
                  <a:srgbClr val="6F4E37"/>
                </a:solidFill>
              </a:rPr>
              <a:t>Removed unnecessary columns. </a:t>
            </a:r>
            <a:endParaRPr lang="en-US" b="1" dirty="0">
              <a:solidFill>
                <a:srgbClr val="6F4E37"/>
              </a:solidFill>
            </a:endParaRPr>
          </a:p>
          <a:p>
            <a:pPr>
              <a:lnSpc>
                <a:spcPct val="150000"/>
              </a:lnSpc>
              <a:buFont typeface="Arial" panose="020B0604020202020204" pitchFamily="34" charset="0"/>
              <a:buChar char="•"/>
            </a:pPr>
            <a:r>
              <a:rPr lang="en-US" dirty="0">
                <a:solidFill>
                  <a:srgbClr val="6F4E37"/>
                </a:solidFill>
              </a:rPr>
              <a:t>Applied transformations in Power Query before loading data. </a:t>
            </a:r>
          </a:p>
          <a:p>
            <a:pPr>
              <a:lnSpc>
                <a:spcPct val="150000"/>
              </a:lnSpc>
              <a:buFont typeface="Arial" panose="020B0604020202020204" pitchFamily="34" charset="0"/>
              <a:buChar char="•"/>
            </a:pPr>
            <a:r>
              <a:rPr lang="en-US" dirty="0">
                <a:solidFill>
                  <a:srgbClr val="6F4E37"/>
                </a:solidFill>
              </a:rPr>
              <a:t>Optimized the model to improve dashboard performance. </a:t>
            </a:r>
          </a:p>
        </p:txBody>
      </p:sp>
    </p:spTree>
    <p:extLst>
      <p:ext uri="{BB962C8B-B14F-4D97-AF65-F5344CB8AC3E}">
        <p14:creationId xmlns:p14="http://schemas.microsoft.com/office/powerpoint/2010/main" val="3722296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9DB83933-F3BE-3AD5-063B-0C5A1AEC8F6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02E0D61-BDA8-4A3C-08DE-2E8F3FE83464}"/>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3" name="TextBox 2">
            <a:extLst>
              <a:ext uri="{FF2B5EF4-FFF2-40B4-BE49-F238E27FC236}">
                <a16:creationId xmlns:a16="http://schemas.microsoft.com/office/drawing/2014/main" id="{8C9A7F32-C133-05C8-89BD-1BEDD1C7416F}"/>
              </a:ext>
            </a:extLst>
          </p:cNvPr>
          <p:cNvSpPr txBox="1"/>
          <p:nvPr/>
        </p:nvSpPr>
        <p:spPr>
          <a:xfrm>
            <a:off x="54430" y="87085"/>
            <a:ext cx="3725494" cy="584775"/>
          </a:xfrm>
          <a:prstGeom prst="rect">
            <a:avLst/>
          </a:prstGeom>
          <a:noFill/>
        </p:spPr>
        <p:txBody>
          <a:bodyPr wrap="square">
            <a:spAutoFit/>
          </a:bodyPr>
          <a:lstStyle/>
          <a:p>
            <a:r>
              <a:rPr lang="en-US" sz="3200" b="1" dirty="0">
                <a:solidFill>
                  <a:srgbClr val="3E2723"/>
                </a:solidFill>
              </a:rPr>
              <a:t>Dashboard Overview</a:t>
            </a:r>
            <a:endParaRPr lang="en-IN" sz="3200" b="1" dirty="0">
              <a:solidFill>
                <a:srgbClr val="3E2723"/>
              </a:solidFill>
            </a:endParaRPr>
          </a:p>
        </p:txBody>
      </p:sp>
      <p:pic>
        <p:nvPicPr>
          <p:cNvPr id="5" name="Picture 4">
            <a:extLst>
              <a:ext uri="{FF2B5EF4-FFF2-40B4-BE49-F238E27FC236}">
                <a16:creationId xmlns:a16="http://schemas.microsoft.com/office/drawing/2014/main" id="{56FBD9FB-15B7-5B6B-73B3-3586BE490FB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4212775" y="206829"/>
            <a:ext cx="7826825" cy="5595257"/>
          </a:xfrm>
          <a:prstGeom prst="rect">
            <a:avLst/>
          </a:prstGeom>
        </p:spPr>
      </p:pic>
      <p:cxnSp>
        <p:nvCxnSpPr>
          <p:cNvPr id="7" name="Straight Connector 6">
            <a:extLst>
              <a:ext uri="{FF2B5EF4-FFF2-40B4-BE49-F238E27FC236}">
                <a16:creationId xmlns:a16="http://schemas.microsoft.com/office/drawing/2014/main" id="{F7F5E9C6-0F8F-F709-AE2C-1A395C7BA429}"/>
              </a:ext>
            </a:extLst>
          </p:cNvPr>
          <p:cNvCxnSpPr>
            <a:cxnSpLocks/>
          </p:cNvCxnSpPr>
          <p:nvPr/>
        </p:nvCxnSpPr>
        <p:spPr>
          <a:xfrm>
            <a:off x="4114800" y="0"/>
            <a:ext cx="0" cy="6858000"/>
          </a:xfrm>
          <a:prstGeom prst="line">
            <a:avLst/>
          </a:prstGeom>
          <a:ln w="57150">
            <a:solidFill>
              <a:srgbClr val="6F4E37"/>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63E38F7-2E76-FAE8-633C-5460901882FA}"/>
              </a:ext>
            </a:extLst>
          </p:cNvPr>
          <p:cNvSpPr txBox="1"/>
          <p:nvPr/>
        </p:nvSpPr>
        <p:spPr>
          <a:xfrm>
            <a:off x="103417" y="1711795"/>
            <a:ext cx="3962396" cy="2585323"/>
          </a:xfrm>
          <a:prstGeom prst="rect">
            <a:avLst/>
          </a:prstGeom>
          <a:noFill/>
        </p:spPr>
        <p:txBody>
          <a:bodyPr wrap="square">
            <a:spAutoFit/>
          </a:bodyPr>
          <a:lstStyle/>
          <a:p>
            <a:pPr algn="just">
              <a:buNone/>
            </a:pPr>
            <a:r>
              <a:rPr lang="en-US" b="1" dirty="0">
                <a:solidFill>
                  <a:srgbClr val="6F4E37"/>
                </a:solidFill>
              </a:rPr>
              <a:t>💡 Key Findings</a:t>
            </a:r>
          </a:p>
          <a:p>
            <a:pPr algn="just">
              <a:buFont typeface="Arial" panose="020B0604020202020204" pitchFamily="34" charset="0"/>
              <a:buChar char="•"/>
            </a:pPr>
            <a:r>
              <a:rPr lang="en-US" dirty="0">
                <a:solidFill>
                  <a:srgbClr val="6F4E37"/>
                </a:solidFill>
              </a:rPr>
              <a:t>Coffee category generates the highest overall revenue. </a:t>
            </a:r>
          </a:p>
          <a:p>
            <a:pPr algn="just">
              <a:buFont typeface="Arial" panose="020B0604020202020204" pitchFamily="34" charset="0"/>
              <a:buChar char="•"/>
            </a:pPr>
            <a:r>
              <a:rPr lang="en-US" dirty="0">
                <a:solidFill>
                  <a:srgbClr val="6F4E37"/>
                </a:solidFill>
              </a:rPr>
              <a:t>Morning time slot contributes the maximum sales. </a:t>
            </a:r>
          </a:p>
          <a:p>
            <a:pPr algn="just">
              <a:buFont typeface="Arial" panose="020B0604020202020204" pitchFamily="34" charset="0"/>
              <a:buChar char="•"/>
            </a:pPr>
            <a:r>
              <a:rPr lang="en-US" dirty="0">
                <a:solidFill>
                  <a:srgbClr val="6F4E37"/>
                </a:solidFill>
              </a:rPr>
              <a:t>Hell's Kitchen is the top-performing store. </a:t>
            </a:r>
          </a:p>
          <a:p>
            <a:pPr algn="just">
              <a:buFont typeface="Arial" panose="020B0604020202020204" pitchFamily="34" charset="0"/>
              <a:buChar char="•"/>
            </a:pPr>
            <a:r>
              <a:rPr lang="en-US" dirty="0">
                <a:solidFill>
                  <a:srgbClr val="6F4E37"/>
                </a:solidFill>
              </a:rPr>
              <a:t>Revenue is concentrated in a few major product categories.</a:t>
            </a:r>
          </a:p>
        </p:txBody>
      </p:sp>
      <p:sp>
        <p:nvSpPr>
          <p:cNvPr id="15" name="TextBox 14">
            <a:extLst>
              <a:ext uri="{FF2B5EF4-FFF2-40B4-BE49-F238E27FC236}">
                <a16:creationId xmlns:a16="http://schemas.microsoft.com/office/drawing/2014/main" id="{BAD272A0-4311-C1B0-AD90-EA92D4EADAE7}"/>
              </a:ext>
            </a:extLst>
          </p:cNvPr>
          <p:cNvSpPr txBox="1"/>
          <p:nvPr/>
        </p:nvSpPr>
        <p:spPr>
          <a:xfrm>
            <a:off x="103417" y="487194"/>
            <a:ext cx="6482442" cy="369332"/>
          </a:xfrm>
          <a:prstGeom prst="rect">
            <a:avLst/>
          </a:prstGeom>
          <a:noFill/>
        </p:spPr>
        <p:txBody>
          <a:bodyPr wrap="square">
            <a:spAutoFit/>
          </a:bodyPr>
          <a:lstStyle/>
          <a:p>
            <a:r>
              <a:rPr lang="en-IN" dirty="0"/>
              <a:t>Executive Overview</a:t>
            </a:r>
          </a:p>
        </p:txBody>
      </p:sp>
    </p:spTree>
    <p:extLst>
      <p:ext uri="{BB962C8B-B14F-4D97-AF65-F5344CB8AC3E}">
        <p14:creationId xmlns:p14="http://schemas.microsoft.com/office/powerpoint/2010/main" val="1662328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2A072DAB-F28F-B5E5-F3B3-DACA13F497A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A13B112-3CC1-1A6E-2D95-948945081F74}"/>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16" name="TextBox 15">
            <a:extLst>
              <a:ext uri="{FF2B5EF4-FFF2-40B4-BE49-F238E27FC236}">
                <a16:creationId xmlns:a16="http://schemas.microsoft.com/office/drawing/2014/main" id="{82AAECAA-6CF4-65E0-173F-79543C538911}"/>
              </a:ext>
            </a:extLst>
          </p:cNvPr>
          <p:cNvSpPr txBox="1"/>
          <p:nvPr/>
        </p:nvSpPr>
        <p:spPr>
          <a:xfrm>
            <a:off x="130629" y="149270"/>
            <a:ext cx="4278086" cy="1846659"/>
          </a:xfrm>
          <a:prstGeom prst="rect">
            <a:avLst/>
          </a:prstGeom>
          <a:noFill/>
        </p:spPr>
        <p:txBody>
          <a:bodyPr wrap="square">
            <a:spAutoFit/>
          </a:bodyPr>
          <a:lstStyle/>
          <a:p>
            <a:r>
              <a:rPr lang="en-US" sz="3200" b="1" dirty="0">
                <a:solidFill>
                  <a:srgbClr val="3E2723"/>
                </a:solidFill>
              </a:rPr>
              <a:t>Product Performance</a:t>
            </a:r>
          </a:p>
          <a:p>
            <a:r>
              <a:rPr lang="en-US" sz="3200" b="1" dirty="0">
                <a:solidFill>
                  <a:srgbClr val="3E2723"/>
                </a:solidFill>
              </a:rPr>
              <a:t>Dashboard</a:t>
            </a:r>
          </a:p>
          <a:p>
            <a:r>
              <a:rPr lang="en-US" b="1" dirty="0">
                <a:solidFill>
                  <a:srgbClr val="3E2723"/>
                </a:solidFill>
              </a:rPr>
              <a:t>Objective</a:t>
            </a:r>
          </a:p>
          <a:p>
            <a:endParaRPr lang="en-IN" sz="3200" b="1" dirty="0">
              <a:solidFill>
                <a:srgbClr val="3E2723"/>
              </a:solidFill>
            </a:endParaRPr>
          </a:p>
        </p:txBody>
      </p:sp>
      <p:pic>
        <p:nvPicPr>
          <p:cNvPr id="4" name="Picture 3">
            <a:extLst>
              <a:ext uri="{FF2B5EF4-FFF2-40B4-BE49-F238E27FC236}">
                <a16:creationId xmlns:a16="http://schemas.microsoft.com/office/drawing/2014/main" id="{2F83CEAB-498B-E0AA-ECA5-77C9B70D268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4855030" y="519672"/>
            <a:ext cx="7206342" cy="4966728"/>
          </a:xfrm>
          <a:prstGeom prst="rect">
            <a:avLst/>
          </a:prstGeom>
        </p:spPr>
      </p:pic>
      <p:cxnSp>
        <p:nvCxnSpPr>
          <p:cNvPr id="5" name="Straight Connector 4">
            <a:extLst>
              <a:ext uri="{FF2B5EF4-FFF2-40B4-BE49-F238E27FC236}">
                <a16:creationId xmlns:a16="http://schemas.microsoft.com/office/drawing/2014/main" id="{4497E45C-19F0-FCE1-B390-1913D3F79C22}"/>
              </a:ext>
            </a:extLst>
          </p:cNvPr>
          <p:cNvCxnSpPr>
            <a:cxnSpLocks/>
          </p:cNvCxnSpPr>
          <p:nvPr/>
        </p:nvCxnSpPr>
        <p:spPr>
          <a:xfrm>
            <a:off x="4844141" y="0"/>
            <a:ext cx="0" cy="6858000"/>
          </a:xfrm>
          <a:prstGeom prst="line">
            <a:avLst/>
          </a:prstGeom>
          <a:ln w="57150">
            <a:solidFill>
              <a:srgbClr val="6F4E37"/>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3DFBB12-6FA1-09EF-1D12-3C5CBCA971F1}"/>
              </a:ext>
            </a:extLst>
          </p:cNvPr>
          <p:cNvSpPr txBox="1"/>
          <p:nvPr/>
        </p:nvSpPr>
        <p:spPr>
          <a:xfrm>
            <a:off x="130636" y="2585995"/>
            <a:ext cx="4724394" cy="2031325"/>
          </a:xfrm>
          <a:prstGeom prst="rect">
            <a:avLst/>
          </a:prstGeom>
          <a:noFill/>
        </p:spPr>
        <p:txBody>
          <a:bodyPr wrap="square">
            <a:spAutoFit/>
          </a:bodyPr>
          <a:lstStyle/>
          <a:p>
            <a:pPr algn="just">
              <a:buNone/>
            </a:pPr>
            <a:r>
              <a:rPr lang="en-US" b="1" dirty="0"/>
              <a:t>💡 </a:t>
            </a:r>
            <a:r>
              <a:rPr lang="en-US" b="1" dirty="0">
                <a:solidFill>
                  <a:srgbClr val="6F4E37"/>
                </a:solidFill>
              </a:rPr>
              <a:t>Key Findings</a:t>
            </a:r>
          </a:p>
          <a:p>
            <a:pPr algn="just">
              <a:buFont typeface="Arial" panose="020B0604020202020204" pitchFamily="34" charset="0"/>
              <a:buChar char="•"/>
            </a:pPr>
            <a:r>
              <a:rPr lang="en-US" dirty="0">
                <a:solidFill>
                  <a:srgbClr val="6F4E37"/>
                </a:solidFill>
              </a:rPr>
              <a:t>Brewed Chai Tea is the highest-selling product by quantity. </a:t>
            </a:r>
          </a:p>
          <a:p>
            <a:pPr algn="just">
              <a:buFont typeface="Arial" panose="020B0604020202020204" pitchFamily="34" charset="0"/>
              <a:buChar char="•"/>
            </a:pPr>
            <a:r>
              <a:rPr lang="en-US" dirty="0">
                <a:solidFill>
                  <a:srgbClr val="6F4E37"/>
                </a:solidFill>
              </a:rPr>
              <a:t>Barista Espresso generates the highest revenue. </a:t>
            </a:r>
          </a:p>
          <a:p>
            <a:pPr algn="just">
              <a:buFont typeface="Arial" panose="020B0604020202020204" pitchFamily="34" charset="0"/>
              <a:buChar char="•"/>
            </a:pPr>
            <a:r>
              <a:rPr lang="en-US" dirty="0">
                <a:solidFill>
                  <a:srgbClr val="6F4E37"/>
                </a:solidFill>
              </a:rPr>
              <a:t>Green Beans is the least-selling product. </a:t>
            </a:r>
          </a:p>
          <a:p>
            <a:pPr algn="just">
              <a:buFont typeface="Arial" panose="020B0604020202020204" pitchFamily="34" charset="0"/>
              <a:buChar char="•"/>
            </a:pPr>
            <a:r>
              <a:rPr lang="en-US" dirty="0">
                <a:solidFill>
                  <a:srgbClr val="6F4E37"/>
                </a:solidFill>
              </a:rPr>
              <a:t>High sales volume does not always translate into the highest revenue.</a:t>
            </a:r>
          </a:p>
        </p:txBody>
      </p:sp>
      <p:sp>
        <p:nvSpPr>
          <p:cNvPr id="9" name="TextBox 8">
            <a:extLst>
              <a:ext uri="{FF2B5EF4-FFF2-40B4-BE49-F238E27FC236}">
                <a16:creationId xmlns:a16="http://schemas.microsoft.com/office/drawing/2014/main" id="{A8D4C517-300B-BE87-A838-C02E3BEB4F80}"/>
              </a:ext>
            </a:extLst>
          </p:cNvPr>
          <p:cNvSpPr txBox="1"/>
          <p:nvPr/>
        </p:nvSpPr>
        <p:spPr>
          <a:xfrm>
            <a:off x="130628" y="1534264"/>
            <a:ext cx="4593758" cy="923330"/>
          </a:xfrm>
          <a:prstGeom prst="rect">
            <a:avLst/>
          </a:prstGeom>
          <a:noFill/>
        </p:spPr>
        <p:txBody>
          <a:bodyPr wrap="square">
            <a:spAutoFit/>
          </a:bodyPr>
          <a:lstStyle/>
          <a:p>
            <a:pPr marL="285750" indent="-285750">
              <a:buFont typeface="Wingdings" panose="05000000000000000000" pitchFamily="2" charset="2"/>
              <a:buChar char="Ø"/>
            </a:pPr>
            <a:r>
              <a:rPr lang="en-US" dirty="0">
                <a:solidFill>
                  <a:srgbClr val="3E2723"/>
                </a:solidFill>
              </a:rPr>
              <a:t>Identify the highest and lowest performing products based on revenue and sales quantity.</a:t>
            </a:r>
            <a:endParaRPr lang="en-IN" dirty="0">
              <a:solidFill>
                <a:srgbClr val="3E2723"/>
              </a:solidFill>
            </a:endParaRPr>
          </a:p>
        </p:txBody>
      </p:sp>
    </p:spTree>
    <p:extLst>
      <p:ext uri="{BB962C8B-B14F-4D97-AF65-F5344CB8AC3E}">
        <p14:creationId xmlns:p14="http://schemas.microsoft.com/office/powerpoint/2010/main" val="2995033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758AA913-A4F6-AE26-24EC-6DE96D61FF9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FA60C4-F932-99BD-47C3-9584FBB22689}"/>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4" name="TextBox 3">
            <a:extLst>
              <a:ext uri="{FF2B5EF4-FFF2-40B4-BE49-F238E27FC236}">
                <a16:creationId xmlns:a16="http://schemas.microsoft.com/office/drawing/2014/main" id="{7700C632-5C63-ECA6-B1A3-8636FB11B16B}"/>
              </a:ext>
            </a:extLst>
          </p:cNvPr>
          <p:cNvSpPr txBox="1"/>
          <p:nvPr/>
        </p:nvSpPr>
        <p:spPr>
          <a:xfrm>
            <a:off x="187778" y="120134"/>
            <a:ext cx="3600451" cy="1354217"/>
          </a:xfrm>
          <a:prstGeom prst="rect">
            <a:avLst/>
          </a:prstGeom>
          <a:noFill/>
        </p:spPr>
        <p:txBody>
          <a:bodyPr wrap="square">
            <a:spAutoFit/>
          </a:bodyPr>
          <a:lstStyle/>
          <a:p>
            <a:r>
              <a:rPr lang="en-IN" sz="3200" b="1" dirty="0">
                <a:solidFill>
                  <a:srgbClr val="3E2723"/>
                </a:solidFill>
              </a:rPr>
              <a:t>Category Analysis</a:t>
            </a:r>
          </a:p>
          <a:p>
            <a:r>
              <a:rPr lang="en-US" b="1" dirty="0">
                <a:solidFill>
                  <a:srgbClr val="3E2723"/>
                </a:solidFill>
              </a:rPr>
              <a:t>Objective</a:t>
            </a:r>
          </a:p>
          <a:p>
            <a:endParaRPr lang="en-IN" sz="3200" b="1" dirty="0">
              <a:solidFill>
                <a:srgbClr val="3E2723"/>
              </a:solidFill>
            </a:endParaRPr>
          </a:p>
        </p:txBody>
      </p:sp>
      <p:sp>
        <p:nvSpPr>
          <p:cNvPr id="5" name="TextBox 4">
            <a:extLst>
              <a:ext uri="{FF2B5EF4-FFF2-40B4-BE49-F238E27FC236}">
                <a16:creationId xmlns:a16="http://schemas.microsoft.com/office/drawing/2014/main" id="{69E54F7C-DB29-35F3-A157-58751CF9050A}"/>
              </a:ext>
            </a:extLst>
          </p:cNvPr>
          <p:cNvSpPr txBox="1"/>
          <p:nvPr/>
        </p:nvSpPr>
        <p:spPr>
          <a:xfrm>
            <a:off x="187778" y="2281195"/>
            <a:ext cx="4615535" cy="3000821"/>
          </a:xfrm>
          <a:prstGeom prst="rect">
            <a:avLst/>
          </a:prstGeom>
          <a:noFill/>
        </p:spPr>
        <p:txBody>
          <a:bodyPr wrap="square">
            <a:spAutoFit/>
          </a:bodyPr>
          <a:lstStyle/>
          <a:p>
            <a:pPr>
              <a:lnSpc>
                <a:spcPct val="150000"/>
              </a:lnSpc>
            </a:pPr>
            <a:r>
              <a:rPr lang="en-US" b="1" dirty="0"/>
              <a:t>💡 </a:t>
            </a:r>
            <a:r>
              <a:rPr lang="en-US" b="1" dirty="0">
                <a:solidFill>
                  <a:srgbClr val="6F4E37"/>
                </a:solidFill>
              </a:rPr>
              <a:t>Key Findings</a:t>
            </a:r>
          </a:p>
          <a:p>
            <a:pPr marL="285750" indent="-285750" algn="just">
              <a:buFont typeface="Wingdings" panose="05000000000000000000" pitchFamily="2" charset="2"/>
              <a:buChar char="§"/>
            </a:pPr>
            <a:r>
              <a:rPr lang="en-US" dirty="0">
                <a:solidFill>
                  <a:srgbClr val="6F4E37"/>
                </a:solidFill>
              </a:rPr>
              <a:t>Coffee is both the highest-selling and highest-revenue category. </a:t>
            </a:r>
          </a:p>
          <a:p>
            <a:pPr marL="285750" indent="-285750" algn="just">
              <a:buFont typeface="Wingdings" panose="05000000000000000000" pitchFamily="2" charset="2"/>
              <a:buChar char="§"/>
            </a:pPr>
            <a:r>
              <a:rPr lang="en-US" dirty="0">
                <a:solidFill>
                  <a:srgbClr val="6F4E37"/>
                </a:solidFill>
              </a:rPr>
              <a:t>Tea is the second-largest revenue contributor. </a:t>
            </a:r>
          </a:p>
          <a:p>
            <a:pPr marL="285750" indent="-285750" algn="just">
              <a:buFont typeface="Wingdings" panose="05000000000000000000" pitchFamily="2" charset="2"/>
              <a:buChar char="§"/>
            </a:pPr>
            <a:r>
              <a:rPr lang="en-US" dirty="0">
                <a:solidFill>
                  <a:srgbClr val="6F4E37"/>
                </a:solidFill>
              </a:rPr>
              <a:t>Coffee Beans have the highest average selling price but lower sales volume. </a:t>
            </a:r>
          </a:p>
          <a:p>
            <a:pPr marL="285750" indent="-285750" algn="just">
              <a:buFont typeface="Wingdings" panose="05000000000000000000" pitchFamily="2" charset="2"/>
              <a:buChar char="§"/>
            </a:pPr>
            <a:r>
              <a:rPr lang="en-US" dirty="0" err="1">
                <a:solidFill>
                  <a:srgbClr val="6F4E37"/>
                </a:solidFill>
              </a:rPr>
              <a:t>Flavours</a:t>
            </a:r>
            <a:r>
              <a:rPr lang="en-US" dirty="0">
                <a:solidFill>
                  <a:srgbClr val="6F4E37"/>
                </a:solidFill>
              </a:rPr>
              <a:t> and Packaged Chocolate contribute minimally to total revenue.</a:t>
            </a:r>
          </a:p>
          <a:p>
            <a:pPr algn="just"/>
            <a:endParaRPr lang="en-US" dirty="0">
              <a:solidFill>
                <a:srgbClr val="6F4E37"/>
              </a:solidFill>
            </a:endParaRPr>
          </a:p>
        </p:txBody>
      </p:sp>
      <p:sp>
        <p:nvSpPr>
          <p:cNvPr id="8" name="TextBox 7">
            <a:extLst>
              <a:ext uri="{FF2B5EF4-FFF2-40B4-BE49-F238E27FC236}">
                <a16:creationId xmlns:a16="http://schemas.microsoft.com/office/drawing/2014/main" id="{7E2D4DC4-F03D-14E6-BAA0-C461185BF902}"/>
              </a:ext>
            </a:extLst>
          </p:cNvPr>
          <p:cNvSpPr txBox="1"/>
          <p:nvPr/>
        </p:nvSpPr>
        <p:spPr>
          <a:xfrm>
            <a:off x="187778" y="1134057"/>
            <a:ext cx="5146222" cy="923330"/>
          </a:xfrm>
          <a:prstGeom prst="rect">
            <a:avLst/>
          </a:prstGeom>
          <a:noFill/>
        </p:spPr>
        <p:txBody>
          <a:bodyPr wrap="square">
            <a:spAutoFit/>
          </a:bodyPr>
          <a:lstStyle/>
          <a:p>
            <a:pPr marL="285750" indent="-285750" algn="just">
              <a:buFont typeface="Wingdings" panose="05000000000000000000" pitchFamily="2" charset="2"/>
              <a:buChar char="Ø"/>
            </a:pPr>
            <a:r>
              <a:rPr lang="en-US" dirty="0"/>
              <a:t>Analyze category-wise sales and revenue performance to identify key business growth opportunities.</a:t>
            </a:r>
            <a:endParaRPr lang="en-IN" dirty="0"/>
          </a:p>
        </p:txBody>
      </p:sp>
      <p:cxnSp>
        <p:nvCxnSpPr>
          <p:cNvPr id="9" name="Straight Connector 8">
            <a:extLst>
              <a:ext uri="{FF2B5EF4-FFF2-40B4-BE49-F238E27FC236}">
                <a16:creationId xmlns:a16="http://schemas.microsoft.com/office/drawing/2014/main" id="{D4DA0A57-D6AA-EBE7-9762-F604804ECC36}"/>
              </a:ext>
            </a:extLst>
          </p:cNvPr>
          <p:cNvCxnSpPr>
            <a:cxnSpLocks/>
          </p:cNvCxnSpPr>
          <p:nvPr/>
        </p:nvCxnSpPr>
        <p:spPr>
          <a:xfrm>
            <a:off x="5312223" y="0"/>
            <a:ext cx="0" cy="6858000"/>
          </a:xfrm>
          <a:prstGeom prst="line">
            <a:avLst/>
          </a:prstGeom>
          <a:ln w="57150">
            <a:solidFill>
              <a:srgbClr val="6F4E37"/>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FFC7F139-B02C-B062-28A0-AA9CE3EF533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5453745" y="925286"/>
            <a:ext cx="6550477" cy="4659084"/>
          </a:xfrm>
          <a:prstGeom prst="rect">
            <a:avLst/>
          </a:prstGeom>
        </p:spPr>
      </p:pic>
    </p:spTree>
    <p:extLst>
      <p:ext uri="{BB962C8B-B14F-4D97-AF65-F5344CB8AC3E}">
        <p14:creationId xmlns:p14="http://schemas.microsoft.com/office/powerpoint/2010/main" val="1534469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F25792C3-B9E9-33DF-B06D-E66B782CE98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1A8B73D-7816-32D3-BF7B-2E853ABA6718}"/>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3" name="TextBox 2">
            <a:extLst>
              <a:ext uri="{FF2B5EF4-FFF2-40B4-BE49-F238E27FC236}">
                <a16:creationId xmlns:a16="http://schemas.microsoft.com/office/drawing/2014/main" id="{2934A3C8-2A01-FBFC-0FAA-E79B1DA8117B}"/>
              </a:ext>
            </a:extLst>
          </p:cNvPr>
          <p:cNvSpPr txBox="1"/>
          <p:nvPr/>
        </p:nvSpPr>
        <p:spPr>
          <a:xfrm>
            <a:off x="187778" y="120134"/>
            <a:ext cx="4253593" cy="2185214"/>
          </a:xfrm>
          <a:prstGeom prst="rect">
            <a:avLst/>
          </a:prstGeom>
          <a:noFill/>
        </p:spPr>
        <p:txBody>
          <a:bodyPr wrap="square">
            <a:spAutoFit/>
          </a:bodyPr>
          <a:lstStyle/>
          <a:p>
            <a:r>
              <a:rPr lang="en-IN" sz="3200" b="1" dirty="0">
                <a:solidFill>
                  <a:srgbClr val="3E2723"/>
                </a:solidFill>
              </a:rPr>
              <a:t>Revenue Contribution Analysis</a:t>
            </a:r>
          </a:p>
          <a:p>
            <a:r>
              <a:rPr lang="en-US" b="1" dirty="0">
                <a:solidFill>
                  <a:srgbClr val="3E2723"/>
                </a:solidFill>
              </a:rPr>
              <a:t>Objective</a:t>
            </a:r>
          </a:p>
          <a:p>
            <a:endParaRPr lang="en-US" b="1" dirty="0">
              <a:solidFill>
                <a:srgbClr val="3E2723"/>
              </a:solidFill>
            </a:endParaRPr>
          </a:p>
          <a:p>
            <a:pPr marL="285750" indent="-285750">
              <a:buFont typeface="Wingdings" panose="05000000000000000000" pitchFamily="2" charset="2"/>
              <a:buChar char="Ø"/>
            </a:pPr>
            <a:r>
              <a:rPr lang="en-US" b="0" i="0" dirty="0">
                <a:effectLst/>
              </a:rPr>
              <a:t>Measure revenue concentration across the menu</a:t>
            </a:r>
            <a:endParaRPr lang="en-IN" b="1" dirty="0"/>
          </a:p>
        </p:txBody>
      </p:sp>
      <p:sp>
        <p:nvSpPr>
          <p:cNvPr id="4" name="TextBox 3">
            <a:extLst>
              <a:ext uri="{FF2B5EF4-FFF2-40B4-BE49-F238E27FC236}">
                <a16:creationId xmlns:a16="http://schemas.microsoft.com/office/drawing/2014/main" id="{969E743E-193E-B8DC-A945-9C0D57276318}"/>
              </a:ext>
            </a:extLst>
          </p:cNvPr>
          <p:cNvSpPr txBox="1"/>
          <p:nvPr/>
        </p:nvSpPr>
        <p:spPr>
          <a:xfrm>
            <a:off x="187778" y="2486168"/>
            <a:ext cx="4615535" cy="3139321"/>
          </a:xfrm>
          <a:prstGeom prst="rect">
            <a:avLst/>
          </a:prstGeom>
          <a:noFill/>
        </p:spPr>
        <p:txBody>
          <a:bodyPr wrap="square">
            <a:spAutoFit/>
          </a:bodyPr>
          <a:lstStyle/>
          <a:p>
            <a:r>
              <a:rPr lang="en-US" b="1" dirty="0">
                <a:solidFill>
                  <a:srgbClr val="6F4E37"/>
                </a:solidFill>
              </a:rPr>
              <a:t>💡 Key Findings</a:t>
            </a:r>
          </a:p>
          <a:p>
            <a:pPr marL="285750" indent="-285750" algn="just">
              <a:buFont typeface="Arial" panose="020B0604020202020204" pitchFamily="34" charset="0"/>
              <a:buChar char="•"/>
            </a:pPr>
            <a:r>
              <a:rPr lang="en-US" dirty="0">
                <a:solidFill>
                  <a:srgbClr val="6F4E37"/>
                </a:solidFill>
              </a:rPr>
              <a:t>Coffee contributes the largest share of total revenue (38.63%). </a:t>
            </a:r>
          </a:p>
          <a:p>
            <a:pPr marL="285750" indent="-285750" algn="just">
              <a:buFont typeface="Arial" panose="020B0604020202020204" pitchFamily="34" charset="0"/>
              <a:buChar char="•"/>
            </a:pPr>
            <a:r>
              <a:rPr lang="en-US" dirty="0">
                <a:solidFill>
                  <a:srgbClr val="6F4E37"/>
                </a:solidFill>
              </a:rPr>
              <a:t>Barista Espresso is the highest revenue-generating product. </a:t>
            </a:r>
          </a:p>
          <a:p>
            <a:pPr marL="285750" indent="-285750" algn="just">
              <a:buFont typeface="Arial" panose="020B0604020202020204" pitchFamily="34" charset="0"/>
              <a:buChar char="•"/>
            </a:pPr>
            <a:r>
              <a:rPr lang="en-US" dirty="0">
                <a:solidFill>
                  <a:srgbClr val="6F4E37"/>
                </a:solidFill>
              </a:rPr>
              <a:t>Hell's Kitchen contributes the highest store revenue. </a:t>
            </a:r>
          </a:p>
          <a:p>
            <a:pPr marL="285750" indent="-285750" algn="just">
              <a:buFont typeface="Arial" panose="020B0604020202020204" pitchFamily="34" charset="0"/>
              <a:buChar char="•"/>
            </a:pPr>
            <a:r>
              <a:rPr lang="en-US" dirty="0">
                <a:solidFill>
                  <a:srgbClr val="6F4E37"/>
                </a:solidFill>
              </a:rPr>
              <a:t>A small number of categories and products drive most business revenue</a:t>
            </a:r>
            <a:r>
              <a:rPr lang="en-US" dirty="0"/>
              <a:t>.</a:t>
            </a:r>
          </a:p>
          <a:p>
            <a:pPr algn="just"/>
            <a:r>
              <a:rPr lang="en-US" dirty="0">
                <a:solidFill>
                  <a:srgbClr val="6F4E37"/>
                </a:solidFill>
              </a:rPr>
              <a:t>.</a:t>
            </a:r>
          </a:p>
          <a:p>
            <a:pPr algn="just"/>
            <a:endParaRPr lang="en-US" dirty="0">
              <a:solidFill>
                <a:srgbClr val="6F4E37"/>
              </a:solidFill>
            </a:endParaRPr>
          </a:p>
        </p:txBody>
      </p:sp>
      <p:cxnSp>
        <p:nvCxnSpPr>
          <p:cNvPr id="6" name="Straight Connector 5">
            <a:extLst>
              <a:ext uri="{FF2B5EF4-FFF2-40B4-BE49-F238E27FC236}">
                <a16:creationId xmlns:a16="http://schemas.microsoft.com/office/drawing/2014/main" id="{36F967FA-49F9-C3FC-09B5-62F12897CD36}"/>
              </a:ext>
            </a:extLst>
          </p:cNvPr>
          <p:cNvCxnSpPr>
            <a:cxnSpLocks/>
          </p:cNvCxnSpPr>
          <p:nvPr/>
        </p:nvCxnSpPr>
        <p:spPr>
          <a:xfrm>
            <a:off x="4822373" y="0"/>
            <a:ext cx="0" cy="6858000"/>
          </a:xfrm>
          <a:prstGeom prst="line">
            <a:avLst/>
          </a:prstGeom>
          <a:ln w="57150">
            <a:solidFill>
              <a:srgbClr val="6F4E37"/>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21874B31-3012-C4FB-E6FF-249F40441384}"/>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4931228" y="628537"/>
            <a:ext cx="7072994" cy="4672806"/>
          </a:xfrm>
          <a:prstGeom prst="rect">
            <a:avLst/>
          </a:prstGeom>
        </p:spPr>
      </p:pic>
    </p:spTree>
    <p:extLst>
      <p:ext uri="{BB962C8B-B14F-4D97-AF65-F5344CB8AC3E}">
        <p14:creationId xmlns:p14="http://schemas.microsoft.com/office/powerpoint/2010/main" val="357039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39BEEAB0-E8CC-2A08-394A-C987CADE781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8EE774F-BB95-1CB7-F07D-D95AD7AB82FD}"/>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cxnSp>
        <p:nvCxnSpPr>
          <p:cNvPr id="3" name="Straight Connector 2">
            <a:extLst>
              <a:ext uri="{FF2B5EF4-FFF2-40B4-BE49-F238E27FC236}">
                <a16:creationId xmlns:a16="http://schemas.microsoft.com/office/drawing/2014/main" id="{87024413-4BD6-08AA-F6EC-7BCB55DA7032}"/>
              </a:ext>
            </a:extLst>
          </p:cNvPr>
          <p:cNvCxnSpPr>
            <a:cxnSpLocks/>
          </p:cNvCxnSpPr>
          <p:nvPr/>
        </p:nvCxnSpPr>
        <p:spPr>
          <a:xfrm>
            <a:off x="5312223" y="0"/>
            <a:ext cx="0" cy="6858000"/>
          </a:xfrm>
          <a:prstGeom prst="line">
            <a:avLst/>
          </a:prstGeom>
          <a:ln w="57150">
            <a:solidFill>
              <a:srgbClr val="6F4E37"/>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38F07A-9711-60D9-535D-A6D1F97FF7FB}"/>
              </a:ext>
            </a:extLst>
          </p:cNvPr>
          <p:cNvSpPr txBox="1"/>
          <p:nvPr/>
        </p:nvSpPr>
        <p:spPr>
          <a:xfrm>
            <a:off x="187778" y="120134"/>
            <a:ext cx="4253593" cy="1969770"/>
          </a:xfrm>
          <a:prstGeom prst="rect">
            <a:avLst/>
          </a:prstGeom>
          <a:noFill/>
        </p:spPr>
        <p:txBody>
          <a:bodyPr wrap="square">
            <a:spAutoFit/>
          </a:bodyPr>
          <a:lstStyle/>
          <a:p>
            <a:r>
              <a:rPr lang="en-IN" sz="3200" b="1" dirty="0">
                <a:solidFill>
                  <a:srgbClr val="3E2723"/>
                </a:solidFill>
              </a:rPr>
              <a:t>Product Details</a:t>
            </a:r>
          </a:p>
          <a:p>
            <a:r>
              <a:rPr lang="en-US" b="1" dirty="0">
                <a:solidFill>
                  <a:srgbClr val="3E2723"/>
                </a:solidFill>
              </a:rPr>
              <a:t>Objective</a:t>
            </a:r>
          </a:p>
          <a:p>
            <a:endParaRPr lang="en-US" b="1" dirty="0">
              <a:solidFill>
                <a:srgbClr val="3E2723"/>
              </a:solidFill>
            </a:endParaRPr>
          </a:p>
          <a:p>
            <a:pPr marL="285750" indent="-285750" algn="just">
              <a:buFont typeface="Wingdings" panose="05000000000000000000" pitchFamily="2" charset="2"/>
              <a:buChar char="Ø"/>
            </a:pPr>
            <a:r>
              <a:rPr lang="en-US" dirty="0"/>
              <a:t>Analyze the detailed performance of individual products across different business dimensions.</a:t>
            </a:r>
            <a:endParaRPr lang="en-IN" b="1" dirty="0"/>
          </a:p>
        </p:txBody>
      </p:sp>
      <p:sp>
        <p:nvSpPr>
          <p:cNvPr id="6" name="TextBox 5">
            <a:extLst>
              <a:ext uri="{FF2B5EF4-FFF2-40B4-BE49-F238E27FC236}">
                <a16:creationId xmlns:a16="http://schemas.microsoft.com/office/drawing/2014/main" id="{013B2EB7-B60E-393D-1198-ADAB709B12DA}"/>
              </a:ext>
            </a:extLst>
          </p:cNvPr>
          <p:cNvSpPr txBox="1"/>
          <p:nvPr/>
        </p:nvSpPr>
        <p:spPr>
          <a:xfrm>
            <a:off x="187778" y="2813094"/>
            <a:ext cx="4982936" cy="2585323"/>
          </a:xfrm>
          <a:prstGeom prst="rect">
            <a:avLst/>
          </a:prstGeom>
          <a:noFill/>
        </p:spPr>
        <p:txBody>
          <a:bodyPr wrap="square">
            <a:spAutoFit/>
          </a:bodyPr>
          <a:lstStyle/>
          <a:p>
            <a:pPr algn="just">
              <a:buNone/>
            </a:pPr>
            <a:r>
              <a:rPr lang="en-US" b="1" dirty="0">
                <a:solidFill>
                  <a:srgbClr val="6F4E37"/>
                </a:solidFill>
              </a:rPr>
              <a:t>💡 Key Findings</a:t>
            </a:r>
          </a:p>
          <a:p>
            <a:pPr algn="just">
              <a:buFont typeface="Arial" panose="020B0604020202020204" pitchFamily="34" charset="0"/>
              <a:buChar char="•"/>
            </a:pPr>
            <a:r>
              <a:rPr lang="en-US" dirty="0">
                <a:solidFill>
                  <a:srgbClr val="6F4E37"/>
                </a:solidFill>
              </a:rPr>
              <a:t>Morning is the best-performing time slot for the selected product. </a:t>
            </a:r>
          </a:p>
          <a:p>
            <a:pPr algn="just">
              <a:buFont typeface="Arial" panose="020B0604020202020204" pitchFamily="34" charset="0"/>
              <a:buChar char="•"/>
            </a:pPr>
            <a:r>
              <a:rPr lang="en-US" dirty="0">
                <a:solidFill>
                  <a:srgbClr val="6F4E37"/>
                </a:solidFill>
              </a:rPr>
              <a:t>Lower Manhattan performs strongly for the selected product. </a:t>
            </a:r>
          </a:p>
          <a:p>
            <a:pPr algn="just">
              <a:buFont typeface="Arial" panose="020B0604020202020204" pitchFamily="34" charset="0"/>
              <a:buChar char="•"/>
            </a:pPr>
            <a:r>
              <a:rPr lang="en-US" dirty="0">
                <a:solidFill>
                  <a:srgbClr val="6F4E37"/>
                </a:solidFill>
              </a:rPr>
              <a:t>Coffee category contributes the highest revenue within product details. </a:t>
            </a:r>
          </a:p>
          <a:p>
            <a:pPr algn="just">
              <a:buFont typeface="Arial" panose="020B0604020202020204" pitchFamily="34" charset="0"/>
              <a:buChar char="•"/>
            </a:pPr>
            <a:r>
              <a:rPr lang="en-US" dirty="0">
                <a:solidFill>
                  <a:srgbClr val="6F4E37"/>
                </a:solidFill>
              </a:rPr>
              <a:t>Average Order Value remains healthy across </a:t>
            </a:r>
            <a:r>
              <a:rPr lang="en-US" dirty="0"/>
              <a:t>transactions.</a:t>
            </a:r>
          </a:p>
        </p:txBody>
      </p:sp>
      <p:pic>
        <p:nvPicPr>
          <p:cNvPr id="8" name="Picture 7">
            <a:extLst>
              <a:ext uri="{FF2B5EF4-FFF2-40B4-BE49-F238E27FC236}">
                <a16:creationId xmlns:a16="http://schemas.microsoft.com/office/drawing/2014/main" id="{7C17343C-A2D5-38DE-6543-53F0F976C19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5453734" y="1019533"/>
            <a:ext cx="6738265" cy="4362674"/>
          </a:xfrm>
          <a:prstGeom prst="rect">
            <a:avLst/>
          </a:prstGeom>
        </p:spPr>
      </p:pic>
    </p:spTree>
    <p:extLst>
      <p:ext uri="{BB962C8B-B14F-4D97-AF65-F5344CB8AC3E}">
        <p14:creationId xmlns:p14="http://schemas.microsoft.com/office/powerpoint/2010/main" val="50213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758CF543-295F-62DD-4FD5-AA7519D0344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6D200E2-A96D-120A-74F6-1944C7F0EEB7}"/>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5" name="TextBox 4">
            <a:extLst>
              <a:ext uri="{FF2B5EF4-FFF2-40B4-BE49-F238E27FC236}">
                <a16:creationId xmlns:a16="http://schemas.microsoft.com/office/drawing/2014/main" id="{45868AF4-A045-5349-ABA2-CF3E06141C25}"/>
              </a:ext>
            </a:extLst>
          </p:cNvPr>
          <p:cNvSpPr txBox="1"/>
          <p:nvPr/>
        </p:nvSpPr>
        <p:spPr>
          <a:xfrm>
            <a:off x="187778" y="120134"/>
            <a:ext cx="4438651" cy="1969770"/>
          </a:xfrm>
          <a:prstGeom prst="rect">
            <a:avLst/>
          </a:prstGeom>
          <a:noFill/>
        </p:spPr>
        <p:txBody>
          <a:bodyPr wrap="square">
            <a:spAutoFit/>
          </a:bodyPr>
          <a:lstStyle/>
          <a:p>
            <a:r>
              <a:rPr lang="en-IN" sz="3200" b="1" dirty="0">
                <a:solidFill>
                  <a:srgbClr val="3E2723"/>
                </a:solidFill>
              </a:rPr>
              <a:t>Pareto Analysis</a:t>
            </a:r>
          </a:p>
          <a:p>
            <a:r>
              <a:rPr lang="en-US" b="1" dirty="0">
                <a:solidFill>
                  <a:srgbClr val="3E2723"/>
                </a:solidFill>
              </a:rPr>
              <a:t>Objective</a:t>
            </a:r>
          </a:p>
          <a:p>
            <a:endParaRPr lang="en-US" b="1" dirty="0">
              <a:solidFill>
                <a:srgbClr val="3E2723"/>
              </a:solidFill>
            </a:endParaRPr>
          </a:p>
          <a:p>
            <a:pPr marL="285750" indent="-285750" algn="just">
              <a:buFont typeface="Wingdings" panose="05000000000000000000" pitchFamily="2" charset="2"/>
              <a:buChar char="Ø"/>
            </a:pPr>
            <a:r>
              <a:rPr lang="en-US" dirty="0"/>
              <a:t>Analyze the 80/20 revenue distribution to identify the products driving the majority of business revenue.</a:t>
            </a:r>
            <a:endParaRPr lang="en-IN" b="1" dirty="0"/>
          </a:p>
        </p:txBody>
      </p:sp>
      <p:sp>
        <p:nvSpPr>
          <p:cNvPr id="7" name="TextBox 6">
            <a:extLst>
              <a:ext uri="{FF2B5EF4-FFF2-40B4-BE49-F238E27FC236}">
                <a16:creationId xmlns:a16="http://schemas.microsoft.com/office/drawing/2014/main" id="{4E83CB68-C851-9070-5E26-312D8F5BBF2A}"/>
              </a:ext>
            </a:extLst>
          </p:cNvPr>
          <p:cNvSpPr txBox="1"/>
          <p:nvPr/>
        </p:nvSpPr>
        <p:spPr>
          <a:xfrm>
            <a:off x="187778" y="2413337"/>
            <a:ext cx="4699908" cy="2585323"/>
          </a:xfrm>
          <a:prstGeom prst="rect">
            <a:avLst/>
          </a:prstGeom>
          <a:noFill/>
        </p:spPr>
        <p:txBody>
          <a:bodyPr wrap="square">
            <a:spAutoFit/>
          </a:bodyPr>
          <a:lstStyle/>
          <a:p>
            <a:pPr algn="just">
              <a:buNone/>
            </a:pPr>
            <a:r>
              <a:rPr lang="en-US" b="1" dirty="0"/>
              <a:t>💡 </a:t>
            </a:r>
            <a:r>
              <a:rPr lang="en-US" b="1" dirty="0">
                <a:solidFill>
                  <a:srgbClr val="6F4E37"/>
                </a:solidFill>
              </a:rPr>
              <a:t>Key Findings</a:t>
            </a:r>
          </a:p>
          <a:p>
            <a:pPr algn="just">
              <a:buFont typeface="Arial" panose="020B0604020202020204" pitchFamily="34" charset="0"/>
              <a:buChar char="•"/>
            </a:pPr>
            <a:r>
              <a:rPr lang="en-US" dirty="0">
                <a:solidFill>
                  <a:srgbClr val="6F4E37"/>
                </a:solidFill>
              </a:rPr>
              <a:t>Only </a:t>
            </a:r>
            <a:r>
              <a:rPr lang="en-US" b="1" dirty="0">
                <a:solidFill>
                  <a:srgbClr val="6F4E37"/>
                </a:solidFill>
              </a:rPr>
              <a:t>11 out of 29</a:t>
            </a:r>
            <a:r>
              <a:rPr lang="en-US" dirty="0">
                <a:solidFill>
                  <a:srgbClr val="6F4E37"/>
                </a:solidFill>
              </a:rPr>
              <a:t> product types generate </a:t>
            </a:r>
            <a:r>
              <a:rPr lang="en-US" b="1" dirty="0">
                <a:solidFill>
                  <a:srgbClr val="6F4E37"/>
                </a:solidFill>
              </a:rPr>
              <a:t>82.63%</a:t>
            </a:r>
            <a:r>
              <a:rPr lang="en-US" dirty="0">
                <a:solidFill>
                  <a:srgbClr val="6F4E37"/>
                </a:solidFill>
              </a:rPr>
              <a:t> of total revenue. </a:t>
            </a:r>
          </a:p>
          <a:p>
            <a:pPr algn="just">
              <a:buFont typeface="Arial" panose="020B0604020202020204" pitchFamily="34" charset="0"/>
              <a:buChar char="•"/>
            </a:pPr>
            <a:r>
              <a:rPr lang="en-US" dirty="0">
                <a:solidFill>
                  <a:srgbClr val="6F4E37"/>
                </a:solidFill>
              </a:rPr>
              <a:t>The remaining </a:t>
            </a:r>
            <a:r>
              <a:rPr lang="en-US" b="1" dirty="0">
                <a:solidFill>
                  <a:srgbClr val="6F4E37"/>
                </a:solidFill>
              </a:rPr>
              <a:t>18 products contribute only 17.37%</a:t>
            </a:r>
            <a:r>
              <a:rPr lang="en-US" dirty="0">
                <a:solidFill>
                  <a:srgbClr val="6F4E37"/>
                </a:solidFill>
              </a:rPr>
              <a:t>. </a:t>
            </a:r>
          </a:p>
          <a:p>
            <a:pPr algn="just">
              <a:buFont typeface="Arial" panose="020B0604020202020204" pitchFamily="34" charset="0"/>
              <a:buChar char="•"/>
            </a:pPr>
            <a:r>
              <a:rPr lang="en-US" dirty="0">
                <a:solidFill>
                  <a:srgbClr val="6F4E37"/>
                </a:solidFill>
              </a:rPr>
              <a:t>Barista Espresso is the largest individual revenue contributor. </a:t>
            </a:r>
          </a:p>
          <a:p>
            <a:pPr algn="just">
              <a:buFont typeface="Arial" panose="020B0604020202020204" pitchFamily="34" charset="0"/>
              <a:buChar char="•"/>
            </a:pPr>
            <a:r>
              <a:rPr lang="en-US" dirty="0">
                <a:solidFill>
                  <a:srgbClr val="6F4E37"/>
                </a:solidFill>
              </a:rPr>
              <a:t>Revenue is highly concentrated among a limited number of products.</a:t>
            </a:r>
          </a:p>
        </p:txBody>
      </p:sp>
      <p:cxnSp>
        <p:nvCxnSpPr>
          <p:cNvPr id="8" name="Straight Connector 7">
            <a:extLst>
              <a:ext uri="{FF2B5EF4-FFF2-40B4-BE49-F238E27FC236}">
                <a16:creationId xmlns:a16="http://schemas.microsoft.com/office/drawing/2014/main" id="{DA20B74E-F0C1-DC10-32C2-192EC2E4273F}"/>
              </a:ext>
            </a:extLst>
          </p:cNvPr>
          <p:cNvCxnSpPr>
            <a:cxnSpLocks/>
          </p:cNvCxnSpPr>
          <p:nvPr/>
        </p:nvCxnSpPr>
        <p:spPr>
          <a:xfrm>
            <a:off x="4931220" y="0"/>
            <a:ext cx="0" cy="6858000"/>
          </a:xfrm>
          <a:prstGeom prst="line">
            <a:avLst/>
          </a:prstGeom>
          <a:ln w="57150">
            <a:solidFill>
              <a:srgbClr val="6F4E37"/>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14DFC3B-C364-DBD3-C487-AAC6FD12C71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5050973" y="642256"/>
            <a:ext cx="7032170" cy="5519059"/>
          </a:xfrm>
          <a:prstGeom prst="rect">
            <a:avLst/>
          </a:prstGeom>
        </p:spPr>
      </p:pic>
    </p:spTree>
    <p:extLst>
      <p:ext uri="{BB962C8B-B14F-4D97-AF65-F5344CB8AC3E}">
        <p14:creationId xmlns:p14="http://schemas.microsoft.com/office/powerpoint/2010/main" val="265392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7A49396E-C56A-8FA9-96AD-F16A3F26585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E37634E-C906-9266-5657-7F0E9C40EFA9}"/>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4" name="TextBox 3">
            <a:extLst>
              <a:ext uri="{FF2B5EF4-FFF2-40B4-BE49-F238E27FC236}">
                <a16:creationId xmlns:a16="http://schemas.microsoft.com/office/drawing/2014/main" id="{4FCC6DA6-9A69-019A-FAC4-64428340EB1F}"/>
              </a:ext>
            </a:extLst>
          </p:cNvPr>
          <p:cNvSpPr txBox="1"/>
          <p:nvPr/>
        </p:nvSpPr>
        <p:spPr>
          <a:xfrm>
            <a:off x="187777" y="680667"/>
            <a:ext cx="9750879" cy="2542363"/>
          </a:xfrm>
          <a:prstGeom prst="rect">
            <a:avLst/>
          </a:prstGeom>
          <a:noFill/>
        </p:spPr>
        <p:txBody>
          <a:bodyPr wrap="square">
            <a:spAutoFit/>
          </a:bodyPr>
          <a:lstStyle/>
          <a:p>
            <a:pPr algn="just">
              <a:lnSpc>
                <a:spcPct val="150000"/>
              </a:lnSpc>
              <a:buNone/>
            </a:pPr>
            <a:r>
              <a:rPr lang="en-US" b="1" dirty="0">
                <a:solidFill>
                  <a:srgbClr val="6F4E37"/>
                </a:solidFill>
              </a:rPr>
              <a:t>Overall Business Recommendations</a:t>
            </a:r>
          </a:p>
          <a:p>
            <a:pPr algn="just">
              <a:lnSpc>
                <a:spcPct val="150000"/>
              </a:lnSpc>
              <a:buFont typeface="Arial" panose="020B0604020202020204" pitchFamily="34" charset="0"/>
              <a:buChar char="•"/>
            </a:pPr>
            <a:r>
              <a:rPr lang="en-US" dirty="0">
                <a:solidFill>
                  <a:srgbClr val="6F4E37"/>
                </a:solidFill>
              </a:rPr>
              <a:t>Focus investment on high-revenue products and categories. </a:t>
            </a:r>
          </a:p>
          <a:p>
            <a:pPr algn="just">
              <a:lnSpc>
                <a:spcPct val="150000"/>
              </a:lnSpc>
              <a:buFont typeface="Arial" panose="020B0604020202020204" pitchFamily="34" charset="0"/>
              <a:buChar char="•"/>
            </a:pPr>
            <a:r>
              <a:rPr lang="en-US" dirty="0">
                <a:solidFill>
                  <a:srgbClr val="6F4E37"/>
                </a:solidFill>
              </a:rPr>
              <a:t>Optimize staffing and inventory based on time-slot demand. </a:t>
            </a:r>
          </a:p>
          <a:p>
            <a:pPr algn="just">
              <a:lnSpc>
                <a:spcPct val="150000"/>
              </a:lnSpc>
              <a:buFont typeface="Arial" panose="020B0604020202020204" pitchFamily="34" charset="0"/>
              <a:buChar char="•"/>
            </a:pPr>
            <a:r>
              <a:rPr lang="en-US" dirty="0">
                <a:solidFill>
                  <a:srgbClr val="6F4E37"/>
                </a:solidFill>
              </a:rPr>
              <a:t>Expand best-performing product strategies across all store locations. </a:t>
            </a:r>
          </a:p>
          <a:p>
            <a:pPr algn="just">
              <a:lnSpc>
                <a:spcPct val="150000"/>
              </a:lnSpc>
              <a:buFont typeface="Arial" panose="020B0604020202020204" pitchFamily="34" charset="0"/>
              <a:buChar char="•"/>
            </a:pPr>
            <a:r>
              <a:rPr lang="en-US" dirty="0">
                <a:solidFill>
                  <a:srgbClr val="6F4E37"/>
                </a:solidFill>
              </a:rPr>
              <a:t>Use Pareto Analysis to prioritize marketing and inventory decisions. </a:t>
            </a:r>
          </a:p>
          <a:p>
            <a:pPr algn="just">
              <a:lnSpc>
                <a:spcPct val="150000"/>
              </a:lnSpc>
              <a:buFont typeface="Arial" panose="020B0604020202020204" pitchFamily="34" charset="0"/>
              <a:buChar char="•"/>
            </a:pPr>
            <a:r>
              <a:rPr lang="en-US" dirty="0">
                <a:solidFill>
                  <a:srgbClr val="6F4E37"/>
                </a:solidFill>
              </a:rPr>
              <a:t>Continuously monitor product performance to improve profitability and customer satisfaction.</a:t>
            </a:r>
          </a:p>
        </p:txBody>
      </p:sp>
      <p:sp>
        <p:nvSpPr>
          <p:cNvPr id="7" name="TextBox 6">
            <a:extLst>
              <a:ext uri="{FF2B5EF4-FFF2-40B4-BE49-F238E27FC236}">
                <a16:creationId xmlns:a16="http://schemas.microsoft.com/office/drawing/2014/main" id="{2AE66B5E-EC6C-E83E-0D14-9728E72F049D}"/>
              </a:ext>
            </a:extLst>
          </p:cNvPr>
          <p:cNvSpPr txBox="1"/>
          <p:nvPr/>
        </p:nvSpPr>
        <p:spPr>
          <a:xfrm>
            <a:off x="187778" y="120134"/>
            <a:ext cx="4438651" cy="861774"/>
          </a:xfrm>
          <a:prstGeom prst="rect">
            <a:avLst/>
          </a:prstGeom>
          <a:noFill/>
        </p:spPr>
        <p:txBody>
          <a:bodyPr wrap="square">
            <a:spAutoFit/>
          </a:bodyPr>
          <a:lstStyle/>
          <a:p>
            <a:r>
              <a:rPr lang="en-IN" sz="3200" b="1" dirty="0">
                <a:solidFill>
                  <a:srgbClr val="3E2723"/>
                </a:solidFill>
              </a:rPr>
              <a:t>Recommendations</a:t>
            </a:r>
          </a:p>
          <a:p>
            <a:endParaRPr lang="en-IN" b="1" dirty="0"/>
          </a:p>
        </p:txBody>
      </p:sp>
    </p:spTree>
    <p:extLst>
      <p:ext uri="{BB962C8B-B14F-4D97-AF65-F5344CB8AC3E}">
        <p14:creationId xmlns:p14="http://schemas.microsoft.com/office/powerpoint/2010/main" val="1671835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55E1D4D5-AF58-1520-5522-3D948F60354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4C56F4C-F7AA-7C32-36BB-52E93ADCF163}"/>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548257" y="5584370"/>
            <a:ext cx="2239764" cy="1970316"/>
          </a:xfrm>
          <a:prstGeom prst="rect">
            <a:avLst/>
          </a:prstGeom>
          <a:effectLst>
            <a:glow rad="63500">
              <a:schemeClr val="accent3">
                <a:satMod val="175000"/>
                <a:alpha val="40000"/>
              </a:schemeClr>
            </a:glow>
          </a:effectLst>
        </p:spPr>
      </p:pic>
      <p:sp>
        <p:nvSpPr>
          <p:cNvPr id="3" name="TextBox 2">
            <a:extLst>
              <a:ext uri="{FF2B5EF4-FFF2-40B4-BE49-F238E27FC236}">
                <a16:creationId xmlns:a16="http://schemas.microsoft.com/office/drawing/2014/main" id="{8C4A1710-FB19-5AFB-0643-3624044F580E}"/>
              </a:ext>
            </a:extLst>
          </p:cNvPr>
          <p:cNvSpPr txBox="1"/>
          <p:nvPr/>
        </p:nvSpPr>
        <p:spPr>
          <a:xfrm>
            <a:off x="239487" y="120134"/>
            <a:ext cx="9818913" cy="584775"/>
          </a:xfrm>
          <a:prstGeom prst="rect">
            <a:avLst/>
          </a:prstGeom>
          <a:noFill/>
        </p:spPr>
        <p:txBody>
          <a:bodyPr wrap="square">
            <a:spAutoFit/>
          </a:bodyPr>
          <a:lstStyle/>
          <a:p>
            <a:r>
              <a:rPr lang="en-US" sz="3200" b="1" dirty="0">
                <a:solidFill>
                  <a:srgbClr val="3E2723"/>
                </a:solidFill>
              </a:rPr>
              <a:t>Conclusion</a:t>
            </a:r>
            <a:endParaRPr lang="en-IN" sz="3200" b="1" dirty="0">
              <a:solidFill>
                <a:srgbClr val="3E2723"/>
              </a:solidFill>
            </a:endParaRPr>
          </a:p>
        </p:txBody>
      </p:sp>
      <p:sp>
        <p:nvSpPr>
          <p:cNvPr id="5" name="TextBox 4">
            <a:extLst>
              <a:ext uri="{FF2B5EF4-FFF2-40B4-BE49-F238E27FC236}">
                <a16:creationId xmlns:a16="http://schemas.microsoft.com/office/drawing/2014/main" id="{22486AD9-2838-5585-5DC2-338454312A23}"/>
              </a:ext>
            </a:extLst>
          </p:cNvPr>
          <p:cNvSpPr txBox="1"/>
          <p:nvPr/>
        </p:nvSpPr>
        <p:spPr>
          <a:xfrm>
            <a:off x="315686" y="873672"/>
            <a:ext cx="9013371" cy="3511859"/>
          </a:xfrm>
          <a:prstGeom prst="rect">
            <a:avLst/>
          </a:prstGeom>
          <a:noFill/>
        </p:spPr>
        <p:txBody>
          <a:bodyPr wrap="square">
            <a:spAutoFit/>
          </a:bodyPr>
          <a:lstStyle/>
          <a:p>
            <a:r>
              <a:rPr lang="en-IN" dirty="0"/>
              <a:t>Project Successfully:</a:t>
            </a:r>
          </a:p>
          <a:p>
            <a:endParaRPr lang="en-IN" dirty="0"/>
          </a:p>
          <a:p>
            <a:r>
              <a:rPr lang="en-IN" dirty="0"/>
              <a:t>✔ Find the hero product i.e. Barista Espresso generate highest revenue</a:t>
            </a:r>
          </a:p>
          <a:p>
            <a:endParaRPr lang="en-IN" dirty="0"/>
          </a:p>
          <a:p>
            <a:r>
              <a:rPr lang="en-IN" dirty="0"/>
              <a:t>✔ Identified </a:t>
            </a:r>
            <a:r>
              <a:rPr lang="en-US" dirty="0"/>
              <a:t>Long-tail Products with Minimal Impact i.e.</a:t>
            </a:r>
            <a:r>
              <a:rPr lang="en-US" altLang="en-US" b="1" dirty="0">
                <a:latin typeface="Arial" panose="020B0604020202020204" pitchFamily="34" charset="0"/>
              </a:rPr>
              <a:t> </a:t>
            </a:r>
            <a:r>
              <a:rPr lang="en-US" altLang="en-US" b="1" dirty="0"/>
              <a:t>18 out of 29</a:t>
            </a:r>
            <a:r>
              <a:rPr lang="en-US" altLang="en-US" dirty="0"/>
              <a:t> product types contribute </a:t>
            </a:r>
          </a:p>
          <a:p>
            <a:endParaRPr lang="en-US" altLang="en-US" dirty="0"/>
          </a:p>
          <a:p>
            <a:r>
              <a:rPr lang="en-US" altLang="en-US" dirty="0"/>
              <a:t>     only </a:t>
            </a:r>
            <a:r>
              <a:rPr lang="en-US" altLang="en-US" b="1" dirty="0"/>
              <a:t>17.37%</a:t>
            </a:r>
            <a:r>
              <a:rPr lang="en-US" altLang="en-US" dirty="0"/>
              <a:t> of total revenue. </a:t>
            </a:r>
          </a:p>
          <a:p>
            <a:endParaRPr lang="en-US" altLang="en-US" dirty="0"/>
          </a:p>
          <a:p>
            <a:pPr marL="285750" indent="-285750" algn="just">
              <a:lnSpc>
                <a:spcPct val="150000"/>
              </a:lnSpc>
              <a:buFont typeface="Wingdings" panose="05000000000000000000" pitchFamily="2" charset="2"/>
              <a:buChar char="ü"/>
            </a:pPr>
            <a:r>
              <a:rPr lang="en-US" dirty="0"/>
              <a:t>The business is highly dependent on </a:t>
            </a:r>
            <a:r>
              <a:rPr lang="en-US" b="1" dirty="0"/>
              <a:t>11 Hero Products</a:t>
            </a:r>
            <a:r>
              <a:rPr lang="en-US" dirty="0"/>
              <a:t> for the majority of its revenue. This creates a </a:t>
            </a:r>
            <a:r>
              <a:rPr lang="en-US" b="1" dirty="0"/>
              <a:t>menu diversification risk</a:t>
            </a:r>
            <a:r>
              <a:rPr lang="en-US" dirty="0"/>
              <a:t>, as any decline in these products could significantly affect overall revenue.</a:t>
            </a:r>
            <a:endParaRPr lang="en-IN" dirty="0"/>
          </a:p>
        </p:txBody>
      </p:sp>
    </p:spTree>
    <p:extLst>
      <p:ext uri="{BB962C8B-B14F-4D97-AF65-F5344CB8AC3E}">
        <p14:creationId xmlns:p14="http://schemas.microsoft.com/office/powerpoint/2010/main" val="3899723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0F76A3-8EEB-B509-0E6B-27D09F8A3AAD}"/>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276949" y="5519056"/>
            <a:ext cx="2154537" cy="1569659"/>
          </a:xfrm>
          <a:prstGeom prst="rect">
            <a:avLst/>
          </a:prstGeom>
          <a:effectLst>
            <a:glow rad="101600">
              <a:schemeClr val="accent3">
                <a:satMod val="175000"/>
                <a:alpha val="40000"/>
              </a:schemeClr>
            </a:glow>
          </a:effectLst>
        </p:spPr>
      </p:pic>
    </p:spTree>
    <p:extLst>
      <p:ext uri="{BB962C8B-B14F-4D97-AF65-F5344CB8AC3E}">
        <p14:creationId xmlns:p14="http://schemas.microsoft.com/office/powerpoint/2010/main" val="2210477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460</TotalTime>
  <Words>946</Words>
  <Application>Microsoft Office PowerPoint</Application>
  <PresentationFormat>Widescreen</PresentationFormat>
  <Paragraphs>161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33</cp:revision>
  <dcterms:created xsi:type="dcterms:W3CDTF">2026-07-06T10:00:25Z</dcterms:created>
  <dcterms:modified xsi:type="dcterms:W3CDTF">2026-07-06T17:41:17Z</dcterms:modified>
</cp:coreProperties>
</file>